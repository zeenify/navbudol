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92" r:id="rId11"/>
    <p:sldId id="293" r:id="rId12"/>
    <p:sldId id="266" r:id="rId13"/>
    <p:sldId id="268" r:id="rId14"/>
    <p:sldId id="289" r:id="rId15"/>
  </p:sldIdLst>
  <p:sldSz cx="18288000" cy="10287000"/>
  <p:notesSz cx="6858000" cy="9144000"/>
  <p:embeddedFontLst>
    <p:embeddedFont>
      <p:font typeface="Arial Bold" panose="020B0704020202020204" pitchFamily="34" charset="0"/>
      <p:regular r:id="rId17"/>
      <p:bold r:id="rId18"/>
    </p:embeddedFont>
    <p:embeddedFont>
      <p:font typeface="Arial Nova" panose="020B0504020202020204" pitchFamily="34" charset="0"/>
      <p:regular r:id="rId19"/>
      <p:bold r:id="rId20"/>
      <p:italic r:id="rId21"/>
      <p:boldItalic r:id="rId22"/>
    </p:embeddedFont>
    <p:embeddedFont>
      <p:font typeface="Arial Nova Bold" panose="020B08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22" autoAdjust="0"/>
  </p:normalViewPr>
  <p:slideViewPr>
    <p:cSldViewPr>
      <p:cViewPr varScale="1">
        <p:scale>
          <a:sx n="70" d="100"/>
          <a:sy n="70" d="100"/>
        </p:scale>
        <p:origin x="73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2C773-4C1E-F4D2-E3FD-93CE12B368E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D6A8FD-6B00-EAF6-E7A1-6FEBF3AA413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3F70960-0042-3D00-2D74-0FC3309F0D5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01C2A6E-C3C2-F99B-3C58-0B764846DAB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3D67F24-9AC1-A8CE-0933-A6F7D744B21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a:extLst>
              <a:ext uri="{FF2B5EF4-FFF2-40B4-BE49-F238E27FC236}">
                <a16:creationId xmlns:a16="http://schemas.microsoft.com/office/drawing/2014/main" id="{EE9CC275-2DBA-9404-08DF-2E7E2BAF542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C43A111-9542-226F-3408-4B8C2780B6D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49859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822C6-0058-D35F-C288-AE0A64864BC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C30015-3D29-B272-7A13-C92548AC5A4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81CC8B1-9E58-186E-528B-0F388AAAFDA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5DD2244-8C50-F344-A573-D9DE23807B7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662B5CF-8A9E-0062-E762-0A5E6BAF017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a:extLst>
              <a:ext uri="{FF2B5EF4-FFF2-40B4-BE49-F238E27FC236}">
                <a16:creationId xmlns:a16="http://schemas.microsoft.com/office/drawing/2014/main" id="{07CF476B-E1DC-3754-26C8-A1B94956F0F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C33A579-3268-A20F-1677-4D57F3A0C0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5210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8" name="TextBox 8"/>
          <p:cNvSpPr txBox="1"/>
          <p:nvPr/>
        </p:nvSpPr>
        <p:spPr>
          <a:xfrm>
            <a:off x="146020" y="3862258"/>
            <a:ext cx="8765318" cy="3693319"/>
          </a:xfrm>
          <a:prstGeom prst="rect">
            <a:avLst/>
          </a:prstGeom>
        </p:spPr>
        <p:txBody>
          <a:bodyPr wrap="square" lIns="0" tIns="0" rIns="0" bIns="0" rtlCol="0" anchor="t">
            <a:spAutoFit/>
          </a:bodyPr>
          <a:lstStyle/>
          <a:p>
            <a:pPr algn="l">
              <a:lnSpc>
                <a:spcPct val="150000"/>
              </a:lnSpc>
            </a:pPr>
            <a:r>
              <a:rPr lang="en-US" sz="6000" b="1" dirty="0">
                <a:solidFill>
                  <a:srgbClr val="000000"/>
                </a:solidFill>
                <a:latin typeface="Arial Nova Bold"/>
                <a:ea typeface="Arial Nova Bold"/>
                <a:cs typeface="Arial Nova Bold"/>
                <a:sym typeface="Arial Nova Bold"/>
              </a:rPr>
              <a:t>Martin, Edrick V.</a:t>
            </a:r>
          </a:p>
          <a:p>
            <a:pPr algn="l">
              <a:lnSpc>
                <a:spcPct val="150000"/>
              </a:lnSpc>
            </a:pPr>
            <a:r>
              <a:rPr lang="en-US" sz="6000" b="1" dirty="0">
                <a:solidFill>
                  <a:srgbClr val="000000"/>
                </a:solidFill>
                <a:latin typeface="Arial Nova Bold"/>
                <a:ea typeface="Arial Nova Bold"/>
                <a:cs typeface="Arial Nova Bold"/>
                <a:sym typeface="Arial Nova Bold"/>
              </a:rPr>
              <a:t>Aberin, John Cedrick G.</a:t>
            </a:r>
          </a:p>
          <a:p>
            <a:pPr algn="l"/>
            <a:r>
              <a:rPr lang="en-US" sz="6000" b="1" dirty="0">
                <a:solidFill>
                  <a:srgbClr val="000000"/>
                </a:solidFill>
                <a:latin typeface="Arial Nova Bold"/>
                <a:ea typeface="Arial Nova Bold"/>
                <a:cs typeface="Arial Nova Bold"/>
                <a:sym typeface="Arial Nova Bold"/>
              </a:rPr>
              <a:t>Quijano, Justine</a:t>
            </a:r>
          </a:p>
        </p:txBody>
      </p:sp>
      <p:grpSp>
        <p:nvGrpSpPr>
          <p:cNvPr id="9" name="Group 9"/>
          <p:cNvGrpSpPr/>
          <p:nvPr/>
        </p:nvGrpSpPr>
        <p:grpSpPr>
          <a:xfrm>
            <a:off x="2274484" y="3623491"/>
            <a:ext cx="2331720" cy="411480"/>
            <a:chOff x="0" y="0"/>
            <a:chExt cx="3108960" cy="548640"/>
          </a:xfrm>
        </p:grpSpPr>
        <p:sp>
          <p:nvSpPr>
            <p:cNvPr id="10" name="Freeform 10"/>
            <p:cNvSpPr/>
            <p:nvPr/>
          </p:nvSpPr>
          <p:spPr>
            <a:xfrm>
              <a:off x="0" y="0"/>
              <a:ext cx="3108960" cy="548640"/>
            </a:xfrm>
            <a:custGeom>
              <a:avLst/>
              <a:gdLst/>
              <a:ahLst/>
              <a:cxnLst/>
              <a:rect l="l" t="t" r="r" b="b"/>
              <a:pathLst>
                <a:path w="3108960" h="548640">
                  <a:moveTo>
                    <a:pt x="0" y="274320"/>
                  </a:moveTo>
                  <a:cubicBezTo>
                    <a:pt x="0" y="122809"/>
                    <a:pt x="122809" y="0"/>
                    <a:pt x="274320" y="0"/>
                  </a:cubicBezTo>
                  <a:lnTo>
                    <a:pt x="2834640" y="0"/>
                  </a:lnTo>
                  <a:cubicBezTo>
                    <a:pt x="2986151" y="0"/>
                    <a:pt x="3108960" y="122809"/>
                    <a:pt x="3108960" y="274320"/>
                  </a:cubicBezTo>
                  <a:cubicBezTo>
                    <a:pt x="3108960" y="425831"/>
                    <a:pt x="2986151" y="548640"/>
                    <a:pt x="283464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11" name="TextBox 11"/>
            <p:cNvSpPr txBox="1"/>
            <p:nvPr/>
          </p:nvSpPr>
          <p:spPr>
            <a:xfrm>
              <a:off x="0" y="-9525"/>
              <a:ext cx="310896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a:ea typeface="Arial Bold"/>
                  <a:cs typeface="Arial Bold"/>
                  <a:sym typeface="Arial Bold"/>
                </a:rPr>
                <a:t>PROPONENTS</a:t>
              </a:r>
            </a:p>
          </p:txBody>
        </p:sp>
      </p:grpSp>
      <p:grpSp>
        <p:nvGrpSpPr>
          <p:cNvPr id="12" name="Group 12"/>
          <p:cNvGrpSpPr/>
          <p:nvPr/>
        </p:nvGrpSpPr>
        <p:grpSpPr>
          <a:xfrm>
            <a:off x="1137990" y="317592"/>
            <a:ext cx="1294181" cy="1299372"/>
            <a:chOff x="0" y="0"/>
            <a:chExt cx="1725574" cy="1732496"/>
          </a:xfrm>
        </p:grpSpPr>
        <p:sp>
          <p:nvSpPr>
            <p:cNvPr id="13" name="Freeform 13"/>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
              </a:stretch>
            </a:blipFill>
          </p:spPr>
        </p:sp>
      </p:grpSp>
      <p:grpSp>
        <p:nvGrpSpPr>
          <p:cNvPr id="14" name="Group 14"/>
          <p:cNvGrpSpPr/>
          <p:nvPr/>
        </p:nvGrpSpPr>
        <p:grpSpPr>
          <a:xfrm>
            <a:off x="2497941" y="297113"/>
            <a:ext cx="1319841" cy="1319841"/>
            <a:chOff x="0" y="0"/>
            <a:chExt cx="1759788" cy="1759788"/>
          </a:xfrm>
        </p:grpSpPr>
        <p:sp>
          <p:nvSpPr>
            <p:cNvPr id="15" name="Freeform 15"/>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6" name="TextBox 16"/>
          <p:cNvSpPr txBox="1"/>
          <p:nvPr/>
        </p:nvSpPr>
        <p:spPr>
          <a:xfrm>
            <a:off x="3974992" y="551774"/>
            <a:ext cx="8560422" cy="998963"/>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sp>
        <p:nvSpPr>
          <p:cNvPr id="18" name="AutoShape 18"/>
          <p:cNvSpPr/>
          <p:nvPr/>
        </p:nvSpPr>
        <p:spPr>
          <a:xfrm rot="17220">
            <a:off x="104661" y="5190306"/>
            <a:ext cx="8555145" cy="0"/>
          </a:xfrm>
          <a:prstGeom prst="line">
            <a:avLst/>
          </a:prstGeom>
          <a:ln w="19050" cap="rnd">
            <a:solidFill>
              <a:srgbClr val="F08E17"/>
            </a:solidFill>
            <a:prstDash val="solid"/>
            <a:headEnd type="none" w="sm" len="sm"/>
            <a:tailEnd type="none" w="sm" len="sm"/>
          </a:ln>
        </p:spPr>
        <p:txBody>
          <a:bodyPr/>
          <a:lstStyle/>
          <a:p>
            <a:endParaRPr lang="en-PH" dirty="0"/>
          </a:p>
        </p:txBody>
      </p:sp>
      <p:grpSp>
        <p:nvGrpSpPr>
          <p:cNvPr id="19" name="Group 19"/>
          <p:cNvGrpSpPr/>
          <p:nvPr/>
        </p:nvGrpSpPr>
        <p:grpSpPr>
          <a:xfrm>
            <a:off x="3926415" y="344900"/>
            <a:ext cx="8250345" cy="461667"/>
            <a:chOff x="0" y="0"/>
            <a:chExt cx="11000461" cy="615556"/>
          </a:xfrm>
        </p:grpSpPr>
        <p:sp>
          <p:nvSpPr>
            <p:cNvPr id="20" name="Freeform 20"/>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21" name="TextBox 21"/>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grpSp>
        <p:nvGrpSpPr>
          <p:cNvPr id="22" name="Group 22"/>
          <p:cNvGrpSpPr/>
          <p:nvPr/>
        </p:nvGrpSpPr>
        <p:grpSpPr>
          <a:xfrm>
            <a:off x="594036" y="2519277"/>
            <a:ext cx="4206240" cy="411480"/>
            <a:chOff x="0" y="0"/>
            <a:chExt cx="5608320" cy="548640"/>
          </a:xfrm>
        </p:grpSpPr>
        <p:sp>
          <p:nvSpPr>
            <p:cNvPr id="23" name="Freeform 23"/>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24" name="TextBox 24"/>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a:solidFill>
                    <a:srgbClr val="FFFFFF"/>
                  </a:solidFill>
                  <a:latin typeface="Arial Bold"/>
                  <a:ea typeface="Arial Bold"/>
                  <a:cs typeface="Arial Bold"/>
                  <a:sym typeface="Arial Bold"/>
                </a:rPr>
                <a:t>TITLE </a:t>
              </a:r>
            </a:p>
          </p:txBody>
        </p:sp>
      </p:grpSp>
      <p:grpSp>
        <p:nvGrpSpPr>
          <p:cNvPr id="25" name="Group 25"/>
          <p:cNvGrpSpPr/>
          <p:nvPr/>
        </p:nvGrpSpPr>
        <p:grpSpPr>
          <a:xfrm>
            <a:off x="16289598" y="0"/>
            <a:ext cx="1994821" cy="1999031"/>
            <a:chOff x="0" y="0"/>
            <a:chExt cx="2659761" cy="2665374"/>
          </a:xfrm>
        </p:grpSpPr>
        <p:sp>
          <p:nvSpPr>
            <p:cNvPr id="26" name="Freeform 26"/>
            <p:cNvSpPr/>
            <p:nvPr/>
          </p:nvSpPr>
          <p:spPr>
            <a:xfrm>
              <a:off x="0" y="0"/>
              <a:ext cx="2659761" cy="2665349"/>
            </a:xfrm>
            <a:custGeom>
              <a:avLst/>
              <a:gdLst/>
              <a:ahLst/>
              <a:cxnLst/>
              <a:rect l="l" t="t" r="r" b="b"/>
              <a:pathLst>
                <a:path w="2659761" h="2665349">
                  <a:moveTo>
                    <a:pt x="0" y="0"/>
                  </a:moveTo>
                  <a:lnTo>
                    <a:pt x="2659761" y="0"/>
                  </a:lnTo>
                  <a:lnTo>
                    <a:pt x="2659761" y="2665349"/>
                  </a:lnTo>
                  <a:lnTo>
                    <a:pt x="0" y="2665349"/>
                  </a:lnTo>
                  <a:lnTo>
                    <a:pt x="0" y="0"/>
                  </a:lnTo>
                  <a:close/>
                </a:path>
              </a:pathLst>
            </a:custGeom>
            <a:blipFill>
              <a:blip r:embed="rId5"/>
              <a:stretch>
                <a:fillRect/>
              </a:stretch>
            </a:blipFill>
          </p:spPr>
        </p:sp>
      </p:grpSp>
      <p:sp>
        <p:nvSpPr>
          <p:cNvPr id="27" name="AutoShape 27"/>
          <p:cNvSpPr/>
          <p:nvPr/>
        </p:nvSpPr>
        <p:spPr>
          <a:xfrm rot="17220">
            <a:off x="104661" y="6383179"/>
            <a:ext cx="8555145" cy="0"/>
          </a:xfrm>
          <a:prstGeom prst="line">
            <a:avLst/>
          </a:prstGeom>
          <a:ln w="19050" cap="rnd">
            <a:solidFill>
              <a:srgbClr val="F08E17"/>
            </a:solidFill>
            <a:prstDash val="solid"/>
            <a:headEnd type="none" w="sm" len="sm"/>
            <a:tailEnd type="none" w="sm" len="sm"/>
          </a:ln>
        </p:spPr>
      </p:sp>
      <p:sp>
        <p:nvSpPr>
          <p:cNvPr id="28" name="AutoShape 28"/>
          <p:cNvSpPr/>
          <p:nvPr/>
        </p:nvSpPr>
        <p:spPr>
          <a:xfrm rot="17220">
            <a:off x="-21488" y="7521750"/>
            <a:ext cx="8555145" cy="0"/>
          </a:xfrm>
          <a:prstGeom prst="line">
            <a:avLst/>
          </a:prstGeom>
          <a:ln w="19050" cap="rnd">
            <a:solidFill>
              <a:srgbClr val="F08E17"/>
            </a:solidFill>
            <a:prstDash val="solid"/>
            <a:headEnd type="none" w="sm" len="sm"/>
            <a:tailEnd type="none" w="sm" len="sm"/>
          </a:ln>
        </p:spPr>
      </p:sp>
      <p:sp>
        <p:nvSpPr>
          <p:cNvPr id="29" name="AutoShape 29"/>
          <p:cNvSpPr/>
          <p:nvPr/>
        </p:nvSpPr>
        <p:spPr>
          <a:xfrm rot="17220">
            <a:off x="66437" y="8724814"/>
            <a:ext cx="8555145" cy="0"/>
          </a:xfrm>
          <a:prstGeom prst="line">
            <a:avLst/>
          </a:prstGeom>
          <a:ln w="19050" cap="rnd">
            <a:solidFill>
              <a:srgbClr val="F08E17"/>
            </a:solidFill>
            <a:prstDash val="solid"/>
            <a:headEnd type="none" w="sm" len="sm"/>
            <a:tailEnd type="none" w="sm" len="sm"/>
          </a:ln>
        </p:spPr>
      </p:sp>
      <p:sp>
        <p:nvSpPr>
          <p:cNvPr id="30" name="AutoShape 30"/>
          <p:cNvSpPr/>
          <p:nvPr/>
        </p:nvSpPr>
        <p:spPr>
          <a:xfrm rot="17220">
            <a:off x="114262" y="9755219"/>
            <a:ext cx="8555145" cy="0"/>
          </a:xfrm>
          <a:prstGeom prst="line">
            <a:avLst/>
          </a:prstGeom>
          <a:ln w="19050" cap="rnd">
            <a:solidFill>
              <a:srgbClr val="F08E17"/>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6" name="Group 6"/>
          <p:cNvGrpSpPr/>
          <p:nvPr/>
        </p:nvGrpSpPr>
        <p:grpSpPr>
          <a:xfrm>
            <a:off x="1137990" y="317592"/>
            <a:ext cx="1294181" cy="1299372"/>
            <a:chOff x="0" y="0"/>
            <a:chExt cx="1725574" cy="1732496"/>
          </a:xfrm>
        </p:grpSpPr>
        <p:sp>
          <p:nvSpPr>
            <p:cNvPr id="7" name="Freeform 7"/>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8" name="Group 8"/>
          <p:cNvGrpSpPr/>
          <p:nvPr/>
        </p:nvGrpSpPr>
        <p:grpSpPr>
          <a:xfrm>
            <a:off x="2497941" y="297113"/>
            <a:ext cx="1319841" cy="1319841"/>
            <a:chOff x="0" y="0"/>
            <a:chExt cx="1759788" cy="1759788"/>
          </a:xfrm>
        </p:grpSpPr>
        <p:sp>
          <p:nvSpPr>
            <p:cNvPr id="9" name="Freeform 9"/>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0" name="TextBox 10"/>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1" name="Group 11"/>
          <p:cNvGrpSpPr/>
          <p:nvPr/>
        </p:nvGrpSpPr>
        <p:grpSpPr>
          <a:xfrm>
            <a:off x="3926415" y="344900"/>
            <a:ext cx="8250345" cy="461667"/>
            <a:chOff x="0" y="0"/>
            <a:chExt cx="11000461" cy="615556"/>
          </a:xfrm>
        </p:grpSpPr>
        <p:sp>
          <p:nvSpPr>
            <p:cNvPr id="12" name="Freeform 12"/>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3" name="TextBox 13"/>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
        <p:nvSpPr>
          <p:cNvPr id="15" name="TextBox 15"/>
          <p:cNvSpPr txBox="1"/>
          <p:nvPr/>
        </p:nvSpPr>
        <p:spPr>
          <a:xfrm>
            <a:off x="1517011" y="3881519"/>
            <a:ext cx="15269789" cy="5101589"/>
          </a:xfrm>
          <a:prstGeom prst="rect">
            <a:avLst/>
          </a:prstGeom>
        </p:spPr>
        <p:txBody>
          <a:bodyPr lIns="0" tIns="0" rIns="0" bIns="0" rtlCol="0" anchor="t">
            <a:spAutoFit/>
          </a:bodyPr>
          <a:lstStyle/>
          <a:p>
            <a:pPr algn="ctr">
              <a:lnSpc>
                <a:spcPts val="6679"/>
              </a:lnSpc>
            </a:pPr>
            <a:r>
              <a:rPr lang="en-US" sz="5566" b="1" spc="27" dirty="0" err="1">
                <a:solidFill>
                  <a:srgbClr val="002060"/>
                </a:solidFill>
                <a:latin typeface="Arial Nova Bold"/>
                <a:ea typeface="Arial Nova Bold"/>
                <a:cs typeface="Arial Nova Bold"/>
                <a:sym typeface="Arial Nova Bold"/>
              </a:rPr>
              <a:t>InstructAI</a:t>
            </a:r>
            <a:r>
              <a:rPr lang="en-US" sz="5566" b="1" spc="27" dirty="0">
                <a:solidFill>
                  <a:srgbClr val="002060"/>
                </a:solidFill>
                <a:latin typeface="Arial Nova Bold"/>
                <a:ea typeface="Arial Nova Bold"/>
                <a:cs typeface="Arial Nova Bold"/>
                <a:sym typeface="Arial Nova Bold"/>
              </a:rPr>
              <a:t>: A Syllabus-Aligned, AI-Powered Instructional Support System for ICT Programming with Voice-Based Tutoring, Automated Assessment Generation, Learning Analytics, and Chat-Based Teacher Command Interface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453151" y="3086100"/>
            <a:ext cx="17850661" cy="6463308"/>
          </a:xfrm>
          <a:prstGeom prst="rect">
            <a:avLst/>
          </a:prstGeom>
        </p:spPr>
        <p:txBody>
          <a:bodyPr wrap="square" lIns="0" tIns="0" rIns="0" bIns="0" rtlCol="0" anchor="t">
            <a:spAutoFit/>
          </a:bodyPr>
          <a:lstStyle/>
          <a:p>
            <a:r>
              <a:rPr lang="en-US" sz="6000" dirty="0"/>
              <a:t>ICT programming subjects are commonly taught in large classes, making it difficult for teachers to provide sustained one-on-one guidance. Students often struggle with program logic, syntax, and debugging, while instructors face heavy workloads in preparing lesson materials, creating assessments, and tracking individual progress. </a:t>
            </a:r>
          </a:p>
        </p:txBody>
      </p:sp>
      <p:grpSp>
        <p:nvGrpSpPr>
          <p:cNvPr id="7" name="Group 7"/>
          <p:cNvGrpSpPr/>
          <p:nvPr/>
        </p:nvGrpSpPr>
        <p:grpSpPr>
          <a:xfrm>
            <a:off x="446847" y="2540099"/>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a:solidFill>
                    <a:srgbClr val="FFFFFF"/>
                  </a:solidFill>
                  <a:latin typeface="Arial Bold"/>
                  <a:ea typeface="Arial Bold"/>
                  <a:cs typeface="Arial Bold"/>
                  <a:sym typeface="Arial Bold"/>
                </a:rPr>
                <a:t>Introduction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537896" y="3507540"/>
            <a:ext cx="17228058" cy="5816977"/>
          </a:xfrm>
          <a:prstGeom prst="rect">
            <a:avLst/>
          </a:prstGeom>
        </p:spPr>
        <p:txBody>
          <a:bodyPr lIns="0" tIns="0" rIns="0" bIns="0" rtlCol="0" anchor="t">
            <a:spAutoFit/>
          </a:bodyPr>
          <a:lstStyle/>
          <a:p>
            <a:r>
              <a:rPr lang="en-US" sz="5400" dirty="0"/>
              <a:t>The proposed system, </a:t>
            </a:r>
            <a:r>
              <a:rPr lang="en-US" sz="5400" dirty="0" err="1"/>
              <a:t>InstructAI</a:t>
            </a:r>
            <a:r>
              <a:rPr lang="en-US" sz="5400" dirty="0"/>
              <a:t>, is a syllabus-aligned, AI-powered instructional support platform designed to assist ICT programming teachers in managing instruction and learner support. The system enables teachers to upload and structure class syllabi, generate quizzes and lesson materials, monitor learning analytics, and issue instructional commands through a Facebook Messenger–based chats.</a:t>
            </a:r>
          </a:p>
        </p:txBody>
      </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a:solidFill>
                    <a:srgbClr val="FFFFFF"/>
                  </a:solidFill>
                  <a:latin typeface="Arial Bold"/>
                  <a:ea typeface="Arial Bold"/>
                  <a:cs typeface="Arial Bold"/>
                  <a:sym typeface="Arial Bold"/>
                </a:rPr>
                <a:t>Introduction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609600" y="3543300"/>
            <a:ext cx="16691315" cy="6386364"/>
          </a:xfrm>
          <a:prstGeom prst="rect">
            <a:avLst/>
          </a:prstGeom>
        </p:spPr>
        <p:txBody>
          <a:bodyPr lIns="0" tIns="0" rIns="0" bIns="0" rtlCol="0" anchor="t">
            <a:spAutoFit/>
          </a:bodyPr>
          <a:lstStyle/>
          <a:p>
            <a:pPr>
              <a:spcAft>
                <a:spcPts val="3000"/>
              </a:spcAft>
            </a:pPr>
            <a:r>
              <a:rPr lang="en-US" sz="4400" dirty="0"/>
              <a:t>ICT programming teachers face significant instructional constraints due to limited classroom time, large and academically diverse classes, and the manual nature of lesson preparation and assessment. The absence of a syllabus-aligned instructional support system results in the following critical issues:</a:t>
            </a:r>
            <a:endParaRPr lang="en-US" sz="4283" spc="21" dirty="0">
              <a:solidFill>
                <a:srgbClr val="000000"/>
              </a:solidFill>
              <a:latin typeface="Arial Nova"/>
              <a:ea typeface="Arial Nova"/>
              <a:cs typeface="Arial Nova"/>
              <a:sym typeface="Arial Nova"/>
            </a:endParaRPr>
          </a:p>
          <a:p>
            <a:pPr marL="924757" lvl="1" indent="-462378">
              <a:lnSpc>
                <a:spcPts val="5139"/>
              </a:lnSpc>
              <a:buFont typeface="Arial"/>
              <a:buChar char="•"/>
            </a:pPr>
            <a:r>
              <a:rPr lang="en-US" sz="4400" dirty="0"/>
              <a:t>Insufficient Individualized Support: Teachers are unable to consistently provide one-on-one guidance to all learners during and outside class hours.</a:t>
            </a:r>
          </a:p>
          <a:p>
            <a:pPr algn="l">
              <a:lnSpc>
                <a:spcPts val="5139"/>
              </a:lnSpc>
            </a:pPr>
            <a:endParaRPr lang="en-US" sz="4283" spc="21" dirty="0">
              <a:solidFill>
                <a:srgbClr val="000000"/>
              </a:solidFill>
              <a:latin typeface="Arial Nova"/>
              <a:ea typeface="Arial Nova"/>
              <a:cs typeface="Arial Nova"/>
              <a:sym typeface="Arial Nova"/>
            </a:endParaRPr>
          </a:p>
        </p:txBody>
      </p:sp>
      <p:grpSp>
        <p:nvGrpSpPr>
          <p:cNvPr id="7" name="Group 7"/>
          <p:cNvGrpSpPr/>
          <p:nvPr/>
        </p:nvGrpSpPr>
        <p:grpSpPr>
          <a:xfrm>
            <a:off x="465772" y="2868930"/>
            <a:ext cx="4206240" cy="505774"/>
            <a:chOff x="0" y="0"/>
            <a:chExt cx="5608320" cy="674365"/>
          </a:xfrm>
        </p:grpSpPr>
        <p:sp>
          <p:nvSpPr>
            <p:cNvPr id="8" name="Freeform 8"/>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a:solidFill>
                    <a:srgbClr val="FFFFFF"/>
                  </a:solidFill>
                  <a:latin typeface="Arial Bold"/>
                  <a:ea typeface="Arial Bold"/>
                  <a:cs typeface="Arial Bold"/>
                  <a:sym typeface="Arial Bold"/>
                </a:rPr>
                <a:t>Statement of the Problem</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304800" y="2868930"/>
            <a:ext cx="16691315" cy="9771906"/>
          </a:xfrm>
          <a:prstGeom prst="rect">
            <a:avLst/>
          </a:prstGeom>
        </p:spPr>
        <p:txBody>
          <a:bodyPr lIns="0" tIns="0" rIns="0" bIns="0" rtlCol="0" anchor="t">
            <a:spAutoFit/>
          </a:bodyPr>
          <a:lstStyle/>
          <a:p>
            <a:pPr algn="l">
              <a:lnSpc>
                <a:spcPts val="5139"/>
              </a:lnSpc>
              <a:spcAft>
                <a:spcPts val="1200"/>
              </a:spcAft>
            </a:pPr>
            <a:endParaRPr dirty="0"/>
          </a:p>
          <a:p>
            <a:pPr marL="924757" lvl="1" indent="-462378">
              <a:lnSpc>
                <a:spcPts val="5139"/>
              </a:lnSpc>
              <a:spcAft>
                <a:spcPts val="1200"/>
              </a:spcAft>
              <a:buFont typeface="Arial"/>
              <a:buChar char="•"/>
            </a:pPr>
            <a:r>
              <a:rPr lang="en-US" sz="4400" dirty="0"/>
              <a:t>High Instructional Workload: Lesson planning, quiz creation, and code checking are performed manually, increasing preparation time and administrative burden.</a:t>
            </a:r>
          </a:p>
          <a:p>
            <a:pPr marL="924757" lvl="1" indent="-462378">
              <a:lnSpc>
                <a:spcPts val="5139"/>
              </a:lnSpc>
              <a:spcAft>
                <a:spcPts val="1200"/>
              </a:spcAft>
              <a:buFont typeface="Arial"/>
              <a:buChar char="•"/>
            </a:pPr>
            <a:r>
              <a:rPr lang="en-US" sz="4400" dirty="0"/>
              <a:t>Lack of Curriculum-Governed Tutoring Tools: Existing digital solutions are not tightly aligned with teacher-defined syllabi, reducing instructional control.</a:t>
            </a:r>
          </a:p>
          <a:p>
            <a:pPr marL="924757" lvl="1" indent="-462378">
              <a:lnSpc>
                <a:spcPts val="5139"/>
              </a:lnSpc>
              <a:spcAft>
                <a:spcPts val="1200"/>
              </a:spcAft>
              <a:buFont typeface="Arial"/>
              <a:buChar char="•"/>
            </a:pPr>
            <a:r>
              <a:rPr lang="en-US" sz="4400" dirty="0"/>
              <a:t>Limited Real-Time Performance Visibility: Teachers rely on manual review processes to identify struggling students, delaying timely intervention.</a:t>
            </a:r>
            <a:endParaRPr lang="en-US" sz="4283" spc="21" dirty="0">
              <a:solidFill>
                <a:srgbClr val="000000"/>
              </a:solidFill>
              <a:latin typeface="Arial Nova"/>
              <a:ea typeface="Arial Nova"/>
              <a:cs typeface="Arial Nova"/>
              <a:sym typeface="Arial Nova"/>
            </a:endParaRPr>
          </a:p>
          <a:p>
            <a:pPr algn="l">
              <a:lnSpc>
                <a:spcPts val="5139"/>
              </a:lnSpc>
            </a:pPr>
            <a:endParaRPr lang="en-US" sz="4283" spc="21" dirty="0">
              <a:solidFill>
                <a:srgbClr val="000000"/>
              </a:solidFill>
              <a:latin typeface="Arial Nova"/>
              <a:ea typeface="Arial Nova"/>
              <a:cs typeface="Arial Nova"/>
              <a:sym typeface="Arial Nova"/>
            </a:endParaRPr>
          </a:p>
          <a:p>
            <a:pPr algn="l">
              <a:lnSpc>
                <a:spcPts val="5139"/>
              </a:lnSpc>
            </a:pPr>
            <a:endParaRPr lang="en-US" sz="4283" spc="21" dirty="0">
              <a:solidFill>
                <a:srgbClr val="000000"/>
              </a:solidFill>
              <a:latin typeface="Arial Nova"/>
              <a:ea typeface="Arial Nova"/>
              <a:cs typeface="Arial Nova"/>
              <a:sym typeface="Arial Nova"/>
            </a:endParaRPr>
          </a:p>
          <a:p>
            <a:pPr algn="l">
              <a:lnSpc>
                <a:spcPts val="5139"/>
              </a:lnSpc>
            </a:pPr>
            <a:endParaRPr lang="en-US" sz="4283" spc="21" dirty="0">
              <a:solidFill>
                <a:srgbClr val="000000"/>
              </a:solidFill>
              <a:latin typeface="Arial Nova"/>
              <a:ea typeface="Arial Nova"/>
              <a:cs typeface="Arial Nova"/>
              <a:sym typeface="Arial Nova"/>
            </a:endParaRPr>
          </a:p>
          <a:p>
            <a:pPr algn="l">
              <a:lnSpc>
                <a:spcPts val="5139"/>
              </a:lnSpc>
            </a:pPr>
            <a:endParaRPr lang="en-US" sz="4283" spc="21" dirty="0">
              <a:solidFill>
                <a:srgbClr val="000000"/>
              </a:solidFill>
              <a:latin typeface="Arial Nova"/>
              <a:ea typeface="Arial Nova"/>
              <a:cs typeface="Arial Nova"/>
              <a:sym typeface="Arial Nova"/>
            </a:endParaRPr>
          </a:p>
        </p:txBody>
      </p:sp>
      <p:grpSp>
        <p:nvGrpSpPr>
          <p:cNvPr id="7" name="Group 7"/>
          <p:cNvGrpSpPr/>
          <p:nvPr/>
        </p:nvGrpSpPr>
        <p:grpSpPr>
          <a:xfrm>
            <a:off x="465772" y="2868930"/>
            <a:ext cx="4206240" cy="505774"/>
            <a:chOff x="0" y="0"/>
            <a:chExt cx="5608320" cy="674365"/>
          </a:xfrm>
        </p:grpSpPr>
        <p:sp>
          <p:nvSpPr>
            <p:cNvPr id="8" name="Freeform 8"/>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a:solidFill>
                    <a:srgbClr val="FFFFFF"/>
                  </a:solidFill>
                  <a:latin typeface="Arial Bold"/>
                  <a:ea typeface="Arial Bold"/>
                  <a:cs typeface="Arial Bold"/>
                  <a:sym typeface="Arial Bold"/>
                </a:rPr>
                <a:t>Statement of the Problem</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465772" y="3390900"/>
            <a:ext cx="16691315" cy="6531019"/>
          </a:xfrm>
          <a:prstGeom prst="rect">
            <a:avLst/>
          </a:prstGeom>
        </p:spPr>
        <p:txBody>
          <a:bodyPr lIns="0" tIns="0" rIns="0" bIns="0" rtlCol="0" anchor="t">
            <a:spAutoFit/>
          </a:bodyPr>
          <a:lstStyle/>
          <a:p>
            <a:pPr>
              <a:lnSpc>
                <a:spcPts val="5139"/>
              </a:lnSpc>
              <a:spcAft>
                <a:spcPts val="1800"/>
              </a:spcAft>
            </a:pPr>
            <a:r>
              <a:rPr lang="fr-FR" sz="4400" dirty="0"/>
              <a:t>Module 1: Syllabus Management &amp; Curriculum Control</a:t>
            </a:r>
          </a:p>
          <a:p>
            <a:pPr marL="1028700" lvl="1" indent="-571500">
              <a:lnSpc>
                <a:spcPts val="5139"/>
              </a:lnSpc>
              <a:spcAft>
                <a:spcPts val="1800"/>
              </a:spcAft>
              <a:buFont typeface="Arial" panose="020B0604020202020204" pitchFamily="34" charset="0"/>
              <a:buChar char="•"/>
            </a:pPr>
            <a:r>
              <a:rPr lang="en-US" sz="4000" spc="21" dirty="0">
                <a:solidFill>
                  <a:srgbClr val="000000"/>
                </a:solidFill>
                <a:latin typeface="Arial Nova"/>
                <a:ea typeface="Arial Nova"/>
                <a:cs typeface="Arial Nova"/>
                <a:sym typeface="Arial Nova"/>
              </a:rPr>
              <a:t>Syllabus Upload and Extraction: Allows teachers to upload official class syllabi in PDF or Word format, which the system analyzes to propose lesson structures and weekly topic plans.</a:t>
            </a:r>
          </a:p>
          <a:p>
            <a:pPr marL="1028700" lvl="1" indent="-571500">
              <a:lnSpc>
                <a:spcPts val="5139"/>
              </a:lnSpc>
              <a:spcAft>
                <a:spcPts val="1800"/>
              </a:spcAft>
              <a:buFont typeface="Arial" panose="020B0604020202020204" pitchFamily="34" charset="0"/>
              <a:buChar char="•"/>
            </a:pPr>
            <a:r>
              <a:rPr lang="en-US" sz="4000" spc="21" dirty="0">
                <a:solidFill>
                  <a:srgbClr val="000000"/>
                </a:solidFill>
                <a:latin typeface="Arial Nova"/>
                <a:ea typeface="Arial Nova"/>
                <a:cs typeface="Arial Nova"/>
                <a:sym typeface="Arial Nova"/>
              </a:rPr>
              <a:t>Lesson Approval and Scheduling: Enables teachers to review, edit, approve, and activate lessons before they become available to students.</a:t>
            </a:r>
          </a:p>
          <a:p>
            <a:pPr marL="1028700" lvl="1" indent="-571500">
              <a:lnSpc>
                <a:spcPts val="5139"/>
              </a:lnSpc>
              <a:spcAft>
                <a:spcPts val="1800"/>
              </a:spcAft>
              <a:buFont typeface="Arial" panose="020B0604020202020204" pitchFamily="34" charset="0"/>
              <a:buChar char="•"/>
            </a:pPr>
            <a:r>
              <a:rPr lang="en-US" sz="4000" spc="21" dirty="0">
                <a:solidFill>
                  <a:srgbClr val="000000"/>
                </a:solidFill>
                <a:latin typeface="Arial Nova"/>
                <a:ea typeface="Arial Nova"/>
                <a:cs typeface="Arial Nova"/>
                <a:sym typeface="Arial Nova"/>
              </a:rPr>
              <a:t>Curriculum Guardrails: Restricts AI tutoring and assessment generation strictly to teacher-approved topics and active lessons.</a:t>
            </a:r>
          </a:p>
        </p:txBody>
      </p:sp>
      <p:grpSp>
        <p:nvGrpSpPr>
          <p:cNvPr id="7" name="Group 7"/>
          <p:cNvGrpSpPr/>
          <p:nvPr/>
        </p:nvGrpSpPr>
        <p:grpSpPr>
          <a:xfrm>
            <a:off x="465772" y="2671845"/>
            <a:ext cx="4206240" cy="505774"/>
            <a:chOff x="0" y="0"/>
            <a:chExt cx="5608320" cy="674365"/>
          </a:xfrm>
        </p:grpSpPr>
        <p:sp>
          <p:nvSpPr>
            <p:cNvPr id="8" name="Freeform 8"/>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a:solidFill>
                    <a:srgbClr val="FFFFFF"/>
                  </a:solidFill>
                  <a:latin typeface="Arial Bold"/>
                  <a:ea typeface="Arial Bold"/>
                  <a:cs typeface="Arial Bold"/>
                  <a:sym typeface="Arial Bold"/>
                </a:rPr>
                <a:t>Scope and Delimitation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543786" y="3251374"/>
            <a:ext cx="17200428" cy="615553"/>
          </a:xfrm>
          <a:prstGeom prst="rect">
            <a:avLst/>
          </a:prstGeom>
        </p:spPr>
        <p:txBody>
          <a:bodyPr lIns="0" tIns="0" rIns="0" bIns="0" rtlCol="0" anchor="t">
            <a:spAutoFit/>
          </a:bodyPr>
          <a:lstStyle/>
          <a:p>
            <a:pPr algn="l">
              <a:lnSpc>
                <a:spcPts val="4815"/>
              </a:lnSpc>
            </a:pPr>
            <a:r>
              <a:rPr lang="en-US" sz="4013" spc="20" dirty="0">
                <a:solidFill>
                  <a:srgbClr val="000000"/>
                </a:solidFill>
                <a:latin typeface="Arial Nova"/>
                <a:ea typeface="Arial Nova"/>
                <a:cs typeface="Arial Nova"/>
                <a:sym typeface="Arial Nova"/>
              </a:rPr>
              <a:t>Module 2: Teacher Instructional Dashboard</a:t>
            </a:r>
          </a:p>
        </p:txBody>
      </p:sp>
      <p:grpSp>
        <p:nvGrpSpPr>
          <p:cNvPr id="7" name="Group 7"/>
          <p:cNvGrpSpPr/>
          <p:nvPr/>
        </p:nvGrpSpPr>
        <p:grpSpPr>
          <a:xfrm>
            <a:off x="517628" y="2506424"/>
            <a:ext cx="4206240" cy="505774"/>
            <a:chOff x="0" y="0"/>
            <a:chExt cx="5608320" cy="674365"/>
          </a:xfrm>
        </p:grpSpPr>
        <p:sp>
          <p:nvSpPr>
            <p:cNvPr id="8" name="Freeform 8"/>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a:ea typeface="Arial Bold"/>
                  <a:cs typeface="Arial Bold"/>
                  <a:sym typeface="Arial Bold"/>
                </a:rPr>
                <a:t>Scope and Delimitation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
        <p:nvSpPr>
          <p:cNvPr id="30" name="TextBox 29">
            <a:extLst>
              <a:ext uri="{FF2B5EF4-FFF2-40B4-BE49-F238E27FC236}">
                <a16:creationId xmlns:a16="http://schemas.microsoft.com/office/drawing/2014/main" id="{A631E9F3-039C-8175-4090-03A8B32587AD}"/>
              </a:ext>
            </a:extLst>
          </p:cNvPr>
          <p:cNvSpPr txBox="1"/>
          <p:nvPr/>
        </p:nvSpPr>
        <p:spPr>
          <a:xfrm>
            <a:off x="916214" y="3951403"/>
            <a:ext cx="16834824" cy="6093976"/>
          </a:xfrm>
          <a:prstGeom prst="rect">
            <a:avLst/>
          </a:prstGeom>
          <a:noFill/>
        </p:spPr>
        <p:txBody>
          <a:bodyPr wrap="square">
            <a:spAutoFit/>
          </a:bodyPr>
          <a:lstStyle/>
          <a:p>
            <a:pPr marL="571500" indent="-571500">
              <a:spcAft>
                <a:spcPts val="1200"/>
              </a:spcAft>
              <a:buFont typeface="Arial" panose="020B0604020202020204" pitchFamily="34" charset="0"/>
              <a:buChar char="•"/>
            </a:pPr>
            <a:r>
              <a:rPr lang="en-US" sz="4000" dirty="0">
                <a:latin typeface="Arial Nova" panose="020B0504020202020204" pitchFamily="34" charset="0"/>
              </a:rPr>
              <a:t>Virtual Class Management: Enables teachers to create and organize online classes, enroll students, and assign class-specific syllabi.</a:t>
            </a:r>
          </a:p>
          <a:p>
            <a:pPr marL="571500" indent="-571500">
              <a:spcAft>
                <a:spcPts val="1200"/>
              </a:spcAft>
              <a:buFont typeface="Arial" panose="020B0604020202020204" pitchFamily="34" charset="0"/>
              <a:buChar char="•"/>
            </a:pPr>
            <a:r>
              <a:rPr lang="en-US" sz="4000" dirty="0">
                <a:latin typeface="Arial Nova" panose="020B0504020202020204" pitchFamily="34" charset="0"/>
              </a:rPr>
              <a:t>Learning Analytics Dashboard: Displays mastery levels, topic weaknesses, and class performance trends through charts and indicators.</a:t>
            </a:r>
          </a:p>
          <a:p>
            <a:pPr marL="571500" indent="-571500">
              <a:spcAft>
                <a:spcPts val="1200"/>
              </a:spcAft>
              <a:buFont typeface="Arial" panose="020B0604020202020204" pitchFamily="34" charset="0"/>
              <a:buChar char="•"/>
            </a:pPr>
            <a:r>
              <a:rPr lang="en-US" sz="4000" dirty="0">
                <a:latin typeface="Arial Nova" panose="020B0504020202020204" pitchFamily="34" charset="0"/>
              </a:rPr>
              <a:t>At-Risk Learner Identification: Automatically flags students who repeatedly struggle with specific objectives.</a:t>
            </a:r>
          </a:p>
          <a:p>
            <a:pPr marL="571500" indent="-571500">
              <a:spcAft>
                <a:spcPts val="1200"/>
              </a:spcAft>
              <a:buFont typeface="Arial" panose="020B0604020202020204" pitchFamily="34" charset="0"/>
              <a:buChar char="•"/>
            </a:pPr>
            <a:r>
              <a:rPr lang="en-US" sz="4000" dirty="0">
                <a:latin typeface="Arial Nova" panose="020B0504020202020204" pitchFamily="34" charset="0"/>
              </a:rPr>
              <a:t>Instructional Planning Reports: Generates data-driven summaries to support lesson adjustments and remediation strategies.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551692" y="3469490"/>
            <a:ext cx="17200428" cy="6617196"/>
          </a:xfrm>
          <a:prstGeom prst="rect">
            <a:avLst/>
          </a:prstGeom>
        </p:spPr>
        <p:txBody>
          <a:bodyPr lIns="0" tIns="0" rIns="0" bIns="0" rtlCol="0" anchor="t">
            <a:spAutoFit/>
          </a:bodyPr>
          <a:lstStyle/>
          <a:p>
            <a:pPr>
              <a:lnSpc>
                <a:spcPts val="4815"/>
              </a:lnSpc>
            </a:pPr>
            <a:r>
              <a:rPr lang="en-US" sz="4400" dirty="0"/>
              <a:t>Module 3: AI-Driven Assessment &amp; Feedback Engine</a:t>
            </a:r>
            <a:endParaRPr lang="en-US" sz="4400" spc="20" dirty="0">
              <a:solidFill>
                <a:srgbClr val="000000"/>
              </a:solidFill>
              <a:latin typeface="Arial Nova"/>
              <a:ea typeface="Arial Nova"/>
              <a:cs typeface="Arial Nova"/>
              <a:sym typeface="Arial Nova"/>
            </a:endParaRP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Automated Quiz and Exam Generation: Creates syllabus-aligned assessments for selected lessons with configurable difficulty and item types.</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Coding Task Evaluation: Automatically checks student-submitted programs and provides rubric-based scoring.</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Adaptive Item Generation: Adjusts questions based on observed class performance.</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Exportable Performance Reports: Allows teachers to download analytics for documentation and academic review.</a:t>
            </a:r>
          </a:p>
        </p:txBody>
      </p:sp>
      <p:grpSp>
        <p:nvGrpSpPr>
          <p:cNvPr id="7" name="Group 7"/>
          <p:cNvGrpSpPr/>
          <p:nvPr/>
        </p:nvGrpSpPr>
        <p:grpSpPr>
          <a:xfrm>
            <a:off x="551692" y="2578199"/>
            <a:ext cx="4206240" cy="512918"/>
            <a:chOff x="0" y="-9525"/>
            <a:chExt cx="5608320" cy="683890"/>
          </a:xfrm>
        </p:grpSpPr>
        <p:sp>
          <p:nvSpPr>
            <p:cNvPr id="8" name="Freeform 8"/>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a:ea typeface="Arial Bold"/>
                  <a:cs typeface="Arial Bold"/>
                  <a:sym typeface="Arial Bold"/>
                </a:rPr>
                <a:t>Scope and Delimitation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347C624E-D2DD-C464-8166-2ACA6EEA91A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139360A-C73D-4B53-86DF-4618CE21CFC7}"/>
              </a:ext>
            </a:extLst>
          </p:cNvPr>
          <p:cNvGrpSpPr/>
          <p:nvPr/>
        </p:nvGrpSpPr>
        <p:grpSpPr>
          <a:xfrm>
            <a:off x="0" y="241621"/>
            <a:ext cx="18303850" cy="1988344"/>
            <a:chOff x="0" y="0"/>
            <a:chExt cx="24405133" cy="2651125"/>
          </a:xfrm>
        </p:grpSpPr>
        <p:sp>
          <p:nvSpPr>
            <p:cNvPr id="3" name="Freeform 3">
              <a:extLst>
                <a:ext uri="{FF2B5EF4-FFF2-40B4-BE49-F238E27FC236}">
                  <a16:creationId xmlns:a16="http://schemas.microsoft.com/office/drawing/2014/main" id="{2481984C-2C6C-1192-0749-85B31E945406}"/>
                </a:ext>
              </a:extLst>
            </p:cNvPr>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a:extLst>
              <a:ext uri="{FF2B5EF4-FFF2-40B4-BE49-F238E27FC236}">
                <a16:creationId xmlns:a16="http://schemas.microsoft.com/office/drawing/2014/main" id="{54B9A14A-20EF-C5F4-7285-6036099A599E}"/>
              </a:ext>
            </a:extLst>
          </p:cNvPr>
          <p:cNvGrpSpPr/>
          <p:nvPr/>
        </p:nvGrpSpPr>
        <p:grpSpPr>
          <a:xfrm>
            <a:off x="0" y="0"/>
            <a:ext cx="18303850" cy="1988344"/>
            <a:chOff x="0" y="0"/>
            <a:chExt cx="24405133" cy="2651125"/>
          </a:xfrm>
        </p:grpSpPr>
        <p:sp>
          <p:nvSpPr>
            <p:cNvPr id="5" name="Freeform 5">
              <a:extLst>
                <a:ext uri="{FF2B5EF4-FFF2-40B4-BE49-F238E27FC236}">
                  <a16:creationId xmlns:a16="http://schemas.microsoft.com/office/drawing/2014/main" id="{DE97FE61-425F-FBC9-9FFA-E5FEFB4B6E11}"/>
                </a:ext>
              </a:extLst>
            </p:cNvPr>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a:extLst>
              <a:ext uri="{FF2B5EF4-FFF2-40B4-BE49-F238E27FC236}">
                <a16:creationId xmlns:a16="http://schemas.microsoft.com/office/drawing/2014/main" id="{12029932-1A06-5B31-77C3-9D6D456C1F73}"/>
              </a:ext>
            </a:extLst>
          </p:cNvPr>
          <p:cNvSpPr txBox="1"/>
          <p:nvPr/>
        </p:nvSpPr>
        <p:spPr>
          <a:xfrm>
            <a:off x="551692" y="3469490"/>
            <a:ext cx="17200428" cy="6063198"/>
          </a:xfrm>
          <a:prstGeom prst="rect">
            <a:avLst/>
          </a:prstGeom>
        </p:spPr>
        <p:txBody>
          <a:bodyPr lIns="0" tIns="0" rIns="0" bIns="0" rtlCol="0" anchor="t">
            <a:spAutoFit/>
          </a:bodyPr>
          <a:lstStyle/>
          <a:p>
            <a:r>
              <a:rPr lang="en-US" sz="4400" dirty="0"/>
              <a:t>Module 4: Student Tutoring Interface </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Conversational and Voice-Enabled Tutoring: Provides chat and speech-based interaction for students within teacher-approved lessons.</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Guided Code Walkthroughs: Explains logic flow and syntax step-by-step for submitted programs.</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Interactive Debugging Dialogues: Leads learners toward correcting errors rather than simply giving answers.</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Session Logging: Records interactions for teacher review and instructional insight.</a:t>
            </a:r>
          </a:p>
        </p:txBody>
      </p:sp>
      <p:grpSp>
        <p:nvGrpSpPr>
          <p:cNvPr id="7" name="Group 7">
            <a:extLst>
              <a:ext uri="{FF2B5EF4-FFF2-40B4-BE49-F238E27FC236}">
                <a16:creationId xmlns:a16="http://schemas.microsoft.com/office/drawing/2014/main" id="{5B78A1B7-3D4B-0C54-815C-6B55BFCC4B03}"/>
              </a:ext>
            </a:extLst>
          </p:cNvPr>
          <p:cNvGrpSpPr/>
          <p:nvPr/>
        </p:nvGrpSpPr>
        <p:grpSpPr>
          <a:xfrm>
            <a:off x="551692" y="2578199"/>
            <a:ext cx="4206240" cy="512918"/>
            <a:chOff x="0" y="-9525"/>
            <a:chExt cx="5608320" cy="683890"/>
          </a:xfrm>
        </p:grpSpPr>
        <p:sp>
          <p:nvSpPr>
            <p:cNvPr id="8" name="Freeform 8">
              <a:extLst>
                <a:ext uri="{FF2B5EF4-FFF2-40B4-BE49-F238E27FC236}">
                  <a16:creationId xmlns:a16="http://schemas.microsoft.com/office/drawing/2014/main" id="{2254015C-F392-0652-777D-C59B09C67A76}"/>
                </a:ext>
              </a:extLst>
            </p:cNvPr>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a:extLst>
                <a:ext uri="{FF2B5EF4-FFF2-40B4-BE49-F238E27FC236}">
                  <a16:creationId xmlns:a16="http://schemas.microsoft.com/office/drawing/2014/main" id="{0D149CB5-02BF-03C4-D55A-E0A524BBA5FD}"/>
                </a:ext>
              </a:extLst>
            </p:cNvPr>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a:ea typeface="Arial Bold"/>
                  <a:cs typeface="Arial Bold"/>
                  <a:sym typeface="Arial Bold"/>
                </a:rPr>
                <a:t>Scope and Delimitation</a:t>
              </a:r>
            </a:p>
          </p:txBody>
        </p:sp>
      </p:grpSp>
      <p:grpSp>
        <p:nvGrpSpPr>
          <p:cNvPr id="10" name="Group 10">
            <a:extLst>
              <a:ext uri="{FF2B5EF4-FFF2-40B4-BE49-F238E27FC236}">
                <a16:creationId xmlns:a16="http://schemas.microsoft.com/office/drawing/2014/main" id="{16F64D72-7467-A4F7-EE66-417C7D7714F5}"/>
              </a:ext>
            </a:extLst>
          </p:cNvPr>
          <p:cNvGrpSpPr/>
          <p:nvPr/>
        </p:nvGrpSpPr>
        <p:grpSpPr>
          <a:xfrm>
            <a:off x="1137990" y="317592"/>
            <a:ext cx="1294181" cy="1299372"/>
            <a:chOff x="0" y="0"/>
            <a:chExt cx="1725574" cy="1732496"/>
          </a:xfrm>
        </p:grpSpPr>
        <p:sp>
          <p:nvSpPr>
            <p:cNvPr id="11" name="Freeform 11">
              <a:extLst>
                <a:ext uri="{FF2B5EF4-FFF2-40B4-BE49-F238E27FC236}">
                  <a16:creationId xmlns:a16="http://schemas.microsoft.com/office/drawing/2014/main" id="{A9BA2E25-4827-825A-5B98-C42AE4552FCE}"/>
                </a:ext>
              </a:extLst>
            </p:cNvPr>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a:extLst>
              <a:ext uri="{FF2B5EF4-FFF2-40B4-BE49-F238E27FC236}">
                <a16:creationId xmlns:a16="http://schemas.microsoft.com/office/drawing/2014/main" id="{B32EC6A2-CB52-369E-050C-C7468FDB8C96}"/>
              </a:ext>
            </a:extLst>
          </p:cNvPr>
          <p:cNvGrpSpPr/>
          <p:nvPr/>
        </p:nvGrpSpPr>
        <p:grpSpPr>
          <a:xfrm>
            <a:off x="2497941" y="297113"/>
            <a:ext cx="1319841" cy="1319841"/>
            <a:chOff x="0" y="0"/>
            <a:chExt cx="1759788" cy="1759788"/>
          </a:xfrm>
        </p:grpSpPr>
        <p:sp>
          <p:nvSpPr>
            <p:cNvPr id="13" name="Freeform 13">
              <a:extLst>
                <a:ext uri="{FF2B5EF4-FFF2-40B4-BE49-F238E27FC236}">
                  <a16:creationId xmlns:a16="http://schemas.microsoft.com/office/drawing/2014/main" id="{B0FF0F6A-C99E-8BD1-7ABE-D1C946E357AE}"/>
                </a:ext>
              </a:extLst>
            </p:cNvPr>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a:extLst>
              <a:ext uri="{FF2B5EF4-FFF2-40B4-BE49-F238E27FC236}">
                <a16:creationId xmlns:a16="http://schemas.microsoft.com/office/drawing/2014/main" id="{2C229F4E-84DB-F940-7E92-5BFE66BA3910}"/>
              </a:ext>
            </a:extLst>
          </p:cNvPr>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a:extLst>
              <a:ext uri="{FF2B5EF4-FFF2-40B4-BE49-F238E27FC236}">
                <a16:creationId xmlns:a16="http://schemas.microsoft.com/office/drawing/2014/main" id="{26371FD1-96B7-98D4-B678-CEF440DDFECB}"/>
              </a:ext>
            </a:extLst>
          </p:cNvPr>
          <p:cNvGrpSpPr/>
          <p:nvPr/>
        </p:nvGrpSpPr>
        <p:grpSpPr>
          <a:xfrm>
            <a:off x="3926415" y="344900"/>
            <a:ext cx="8250345" cy="461667"/>
            <a:chOff x="0" y="0"/>
            <a:chExt cx="11000461" cy="615556"/>
          </a:xfrm>
        </p:grpSpPr>
        <p:sp>
          <p:nvSpPr>
            <p:cNvPr id="16" name="Freeform 16">
              <a:extLst>
                <a:ext uri="{FF2B5EF4-FFF2-40B4-BE49-F238E27FC236}">
                  <a16:creationId xmlns:a16="http://schemas.microsoft.com/office/drawing/2014/main" id="{2845175A-247C-4ED0-3D61-2A6990A0D85F}"/>
                </a:ext>
              </a:extLst>
            </p:cNvPr>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a:extLst>
                <a:ext uri="{FF2B5EF4-FFF2-40B4-BE49-F238E27FC236}">
                  <a16:creationId xmlns:a16="http://schemas.microsoft.com/office/drawing/2014/main" id="{57EE2FD7-4870-8E2F-185B-996F119B6CA5}"/>
                </a:ext>
              </a:extLst>
            </p:cNvPr>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extLst>
      <p:ext uri="{BB962C8B-B14F-4D97-AF65-F5344CB8AC3E}">
        <p14:creationId xmlns:p14="http://schemas.microsoft.com/office/powerpoint/2010/main" val="307352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68732D9B-74BB-0C76-50D5-065AB9CCE15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DE31625-5441-A7CA-041C-B8A57B44AD1F}"/>
              </a:ext>
            </a:extLst>
          </p:cNvPr>
          <p:cNvGrpSpPr/>
          <p:nvPr/>
        </p:nvGrpSpPr>
        <p:grpSpPr>
          <a:xfrm>
            <a:off x="0" y="241621"/>
            <a:ext cx="18303850" cy="1988344"/>
            <a:chOff x="0" y="0"/>
            <a:chExt cx="24405133" cy="2651125"/>
          </a:xfrm>
        </p:grpSpPr>
        <p:sp>
          <p:nvSpPr>
            <p:cNvPr id="3" name="Freeform 3">
              <a:extLst>
                <a:ext uri="{FF2B5EF4-FFF2-40B4-BE49-F238E27FC236}">
                  <a16:creationId xmlns:a16="http://schemas.microsoft.com/office/drawing/2014/main" id="{F05557AF-4AB3-A89E-FC42-7B7F4D2B2182}"/>
                </a:ext>
              </a:extLst>
            </p:cNvPr>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a:extLst>
              <a:ext uri="{FF2B5EF4-FFF2-40B4-BE49-F238E27FC236}">
                <a16:creationId xmlns:a16="http://schemas.microsoft.com/office/drawing/2014/main" id="{402CD6FD-C832-DF9C-B49E-58EFAE6559F2}"/>
              </a:ext>
            </a:extLst>
          </p:cNvPr>
          <p:cNvGrpSpPr/>
          <p:nvPr/>
        </p:nvGrpSpPr>
        <p:grpSpPr>
          <a:xfrm>
            <a:off x="0" y="0"/>
            <a:ext cx="18303850" cy="1988344"/>
            <a:chOff x="0" y="0"/>
            <a:chExt cx="24405133" cy="2651125"/>
          </a:xfrm>
        </p:grpSpPr>
        <p:sp>
          <p:nvSpPr>
            <p:cNvPr id="5" name="Freeform 5">
              <a:extLst>
                <a:ext uri="{FF2B5EF4-FFF2-40B4-BE49-F238E27FC236}">
                  <a16:creationId xmlns:a16="http://schemas.microsoft.com/office/drawing/2014/main" id="{025EAFDB-C606-C9A4-ABE9-FE29A2703141}"/>
                </a:ext>
              </a:extLst>
            </p:cNvPr>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a:extLst>
              <a:ext uri="{FF2B5EF4-FFF2-40B4-BE49-F238E27FC236}">
                <a16:creationId xmlns:a16="http://schemas.microsoft.com/office/drawing/2014/main" id="{8E42F269-36EA-0C31-1B29-2315D2401EB1}"/>
              </a:ext>
            </a:extLst>
          </p:cNvPr>
          <p:cNvSpPr txBox="1"/>
          <p:nvPr/>
        </p:nvSpPr>
        <p:spPr>
          <a:xfrm>
            <a:off x="551692" y="3543300"/>
            <a:ext cx="17507708" cy="5293757"/>
          </a:xfrm>
          <a:prstGeom prst="rect">
            <a:avLst/>
          </a:prstGeom>
        </p:spPr>
        <p:txBody>
          <a:bodyPr wrap="square" lIns="0" tIns="0" rIns="0" bIns="0" rtlCol="0" anchor="t">
            <a:spAutoFit/>
          </a:bodyPr>
          <a:lstStyle/>
          <a:p>
            <a:r>
              <a:rPr lang="en-US" sz="4400" dirty="0"/>
              <a:t>Module 5: Chat-Based Teacher Command Interface</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Messenger-Linked Teacher Assistant: Allows instructors to issue instructional requests through a chat interface connected to their account.</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Assessment Requests via Chat: Enables teachers to generate quizzes or exams using natural-language commands.</a:t>
            </a:r>
          </a:p>
          <a:p>
            <a:pPr marL="1028700" lvl="1" indent="-571500">
              <a:lnSpc>
                <a:spcPts val="4815"/>
              </a:lnSpc>
              <a:spcAft>
                <a:spcPts val="1200"/>
              </a:spcAft>
              <a:buFont typeface="Arial" panose="020B0604020202020204" pitchFamily="34" charset="0"/>
              <a:buChar char="•"/>
            </a:pPr>
            <a:r>
              <a:rPr lang="en-US" sz="4013" spc="20" dirty="0">
                <a:solidFill>
                  <a:srgbClr val="000000"/>
                </a:solidFill>
                <a:latin typeface="Arial Nova"/>
                <a:ea typeface="Arial Nova"/>
                <a:cs typeface="Arial Nova"/>
                <a:sym typeface="Arial Nova"/>
              </a:rPr>
              <a:t>Audit and Confirmation Workflow: Requires teacher review before any materials are released to students.</a:t>
            </a:r>
          </a:p>
        </p:txBody>
      </p:sp>
      <p:grpSp>
        <p:nvGrpSpPr>
          <p:cNvPr id="7" name="Group 7">
            <a:extLst>
              <a:ext uri="{FF2B5EF4-FFF2-40B4-BE49-F238E27FC236}">
                <a16:creationId xmlns:a16="http://schemas.microsoft.com/office/drawing/2014/main" id="{1070A748-6862-2506-7466-BEF3AED822FE}"/>
              </a:ext>
            </a:extLst>
          </p:cNvPr>
          <p:cNvGrpSpPr/>
          <p:nvPr/>
        </p:nvGrpSpPr>
        <p:grpSpPr>
          <a:xfrm>
            <a:off x="551692" y="2578199"/>
            <a:ext cx="4206240" cy="512918"/>
            <a:chOff x="0" y="-9525"/>
            <a:chExt cx="5608320" cy="683890"/>
          </a:xfrm>
        </p:grpSpPr>
        <p:sp>
          <p:nvSpPr>
            <p:cNvPr id="8" name="Freeform 8">
              <a:extLst>
                <a:ext uri="{FF2B5EF4-FFF2-40B4-BE49-F238E27FC236}">
                  <a16:creationId xmlns:a16="http://schemas.microsoft.com/office/drawing/2014/main" id="{B08F763E-B0F3-53AC-15C4-574C122EA26A}"/>
                </a:ext>
              </a:extLst>
            </p:cNvPr>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a:extLst>
                <a:ext uri="{FF2B5EF4-FFF2-40B4-BE49-F238E27FC236}">
                  <a16:creationId xmlns:a16="http://schemas.microsoft.com/office/drawing/2014/main" id="{233D208C-2970-11EC-B695-48B7995E0777}"/>
                </a:ext>
              </a:extLst>
            </p:cNvPr>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a:ea typeface="Arial Bold"/>
                  <a:cs typeface="Arial Bold"/>
                  <a:sym typeface="Arial Bold"/>
                </a:rPr>
                <a:t>Scope and Delimitation</a:t>
              </a:r>
            </a:p>
          </p:txBody>
        </p:sp>
      </p:grpSp>
      <p:grpSp>
        <p:nvGrpSpPr>
          <p:cNvPr id="10" name="Group 10">
            <a:extLst>
              <a:ext uri="{FF2B5EF4-FFF2-40B4-BE49-F238E27FC236}">
                <a16:creationId xmlns:a16="http://schemas.microsoft.com/office/drawing/2014/main" id="{31E722F7-036F-9FDB-AADC-14A14B5D593C}"/>
              </a:ext>
            </a:extLst>
          </p:cNvPr>
          <p:cNvGrpSpPr/>
          <p:nvPr/>
        </p:nvGrpSpPr>
        <p:grpSpPr>
          <a:xfrm>
            <a:off x="1137990" y="317592"/>
            <a:ext cx="1294181" cy="1299372"/>
            <a:chOff x="0" y="0"/>
            <a:chExt cx="1725574" cy="1732496"/>
          </a:xfrm>
        </p:grpSpPr>
        <p:sp>
          <p:nvSpPr>
            <p:cNvPr id="11" name="Freeform 11">
              <a:extLst>
                <a:ext uri="{FF2B5EF4-FFF2-40B4-BE49-F238E27FC236}">
                  <a16:creationId xmlns:a16="http://schemas.microsoft.com/office/drawing/2014/main" id="{7BA00FDD-6BAE-7AF9-7303-54F843255AED}"/>
                </a:ext>
              </a:extLst>
            </p:cNvPr>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a:extLst>
              <a:ext uri="{FF2B5EF4-FFF2-40B4-BE49-F238E27FC236}">
                <a16:creationId xmlns:a16="http://schemas.microsoft.com/office/drawing/2014/main" id="{4F58AE33-879A-FCB4-FA35-F6FB08E2EE0E}"/>
              </a:ext>
            </a:extLst>
          </p:cNvPr>
          <p:cNvGrpSpPr/>
          <p:nvPr/>
        </p:nvGrpSpPr>
        <p:grpSpPr>
          <a:xfrm>
            <a:off x="2497941" y="297113"/>
            <a:ext cx="1319841" cy="1319841"/>
            <a:chOff x="0" y="0"/>
            <a:chExt cx="1759788" cy="1759788"/>
          </a:xfrm>
        </p:grpSpPr>
        <p:sp>
          <p:nvSpPr>
            <p:cNvPr id="13" name="Freeform 13">
              <a:extLst>
                <a:ext uri="{FF2B5EF4-FFF2-40B4-BE49-F238E27FC236}">
                  <a16:creationId xmlns:a16="http://schemas.microsoft.com/office/drawing/2014/main" id="{3AFD43CA-8AA7-A854-C584-D4DCE39F997B}"/>
                </a:ext>
              </a:extLst>
            </p:cNvPr>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a:extLst>
              <a:ext uri="{FF2B5EF4-FFF2-40B4-BE49-F238E27FC236}">
                <a16:creationId xmlns:a16="http://schemas.microsoft.com/office/drawing/2014/main" id="{3B449C69-08C2-2BE2-D974-37CE3B78C88E}"/>
              </a:ext>
            </a:extLst>
          </p:cNvPr>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a:extLst>
              <a:ext uri="{FF2B5EF4-FFF2-40B4-BE49-F238E27FC236}">
                <a16:creationId xmlns:a16="http://schemas.microsoft.com/office/drawing/2014/main" id="{06CD64A6-9ACF-8279-587B-3E47C74C9178}"/>
              </a:ext>
            </a:extLst>
          </p:cNvPr>
          <p:cNvGrpSpPr/>
          <p:nvPr/>
        </p:nvGrpSpPr>
        <p:grpSpPr>
          <a:xfrm>
            <a:off x="3926415" y="344900"/>
            <a:ext cx="8250345" cy="461667"/>
            <a:chOff x="0" y="0"/>
            <a:chExt cx="11000461" cy="615556"/>
          </a:xfrm>
        </p:grpSpPr>
        <p:sp>
          <p:nvSpPr>
            <p:cNvPr id="16" name="Freeform 16">
              <a:extLst>
                <a:ext uri="{FF2B5EF4-FFF2-40B4-BE49-F238E27FC236}">
                  <a16:creationId xmlns:a16="http://schemas.microsoft.com/office/drawing/2014/main" id="{DC33C5EF-1635-E0B8-7BFC-8EBFC0B2F31E}"/>
                </a:ext>
              </a:extLst>
            </p:cNvPr>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a:extLst>
                <a:ext uri="{FF2B5EF4-FFF2-40B4-BE49-F238E27FC236}">
                  <a16:creationId xmlns:a16="http://schemas.microsoft.com/office/drawing/2014/main" id="{4ADB3A56-10CA-A2D8-65C2-9B1028D8A0CD}"/>
                </a:ext>
              </a:extLst>
            </p:cNvPr>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extLst>
      <p:ext uri="{BB962C8B-B14F-4D97-AF65-F5344CB8AC3E}">
        <p14:creationId xmlns:p14="http://schemas.microsoft.com/office/powerpoint/2010/main" val="3080049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551711" y="3238500"/>
            <a:ext cx="17200428" cy="7463582"/>
          </a:xfrm>
          <a:prstGeom prst="rect">
            <a:avLst/>
          </a:prstGeom>
        </p:spPr>
        <p:txBody>
          <a:bodyPr lIns="0" tIns="0" rIns="0" bIns="0" rtlCol="0" anchor="t">
            <a:spAutoFit/>
          </a:bodyPr>
          <a:lstStyle/>
          <a:p>
            <a:pPr algn="l">
              <a:lnSpc>
                <a:spcPts val="4815"/>
              </a:lnSpc>
            </a:pPr>
            <a:r>
              <a:rPr lang="en-US" sz="4013" spc="20" dirty="0">
                <a:solidFill>
                  <a:srgbClr val="000000"/>
                </a:solidFill>
                <a:latin typeface="Arial Nova"/>
                <a:ea typeface="Arial Nova"/>
                <a:cs typeface="Arial Nova"/>
                <a:sym typeface="Arial Nova"/>
              </a:rPr>
              <a:t>Limitations:</a:t>
            </a:r>
          </a:p>
          <a:p>
            <a:pPr lvl="1">
              <a:lnSpc>
                <a:spcPts val="4815"/>
              </a:lnSpc>
              <a:spcAft>
                <a:spcPts val="1800"/>
              </a:spcAft>
            </a:pPr>
            <a:r>
              <a:rPr lang="en-US" sz="4013" spc="20" dirty="0">
                <a:solidFill>
                  <a:srgbClr val="000000"/>
                </a:solidFill>
                <a:latin typeface="Arial Nova"/>
                <a:ea typeface="Arial Nova"/>
                <a:cs typeface="Arial Nova"/>
                <a:sym typeface="Arial Nova"/>
              </a:rPr>
              <a:t>No Replacement of Human Teachers: </a:t>
            </a:r>
            <a:r>
              <a:rPr lang="en-US" sz="4013" spc="20" dirty="0" err="1">
                <a:solidFill>
                  <a:srgbClr val="000000"/>
                </a:solidFill>
                <a:latin typeface="Arial Nova"/>
                <a:ea typeface="Arial Nova"/>
                <a:cs typeface="Arial Nova"/>
                <a:sym typeface="Arial Nova"/>
              </a:rPr>
              <a:t>InstructAI</a:t>
            </a:r>
            <a:r>
              <a:rPr lang="en-US" sz="4013" spc="20" dirty="0">
                <a:solidFill>
                  <a:srgbClr val="000000"/>
                </a:solidFill>
                <a:latin typeface="Arial Nova"/>
                <a:ea typeface="Arial Nova"/>
                <a:cs typeface="Arial Nova"/>
                <a:sym typeface="Arial Nova"/>
              </a:rPr>
              <a:t> is designed to support and enhance classroom instruction; it does not replace ICT instructors or their professional judgment.</a:t>
            </a:r>
          </a:p>
          <a:p>
            <a:pPr lvl="1">
              <a:lnSpc>
                <a:spcPts val="4815"/>
              </a:lnSpc>
              <a:spcAft>
                <a:spcPts val="1800"/>
              </a:spcAft>
            </a:pPr>
            <a:r>
              <a:rPr lang="en-US" sz="4013" spc="20" dirty="0">
                <a:solidFill>
                  <a:srgbClr val="000000"/>
                </a:solidFill>
                <a:latin typeface="Arial Nova"/>
                <a:ea typeface="Arial Nova"/>
                <a:cs typeface="Arial Nova"/>
                <a:sym typeface="Arial Nova"/>
              </a:rPr>
              <a:t>Internet Dependency: Features such as conversational AI, voice-based tutoring, and automated assessment generation require a stable internet connection.</a:t>
            </a:r>
          </a:p>
          <a:p>
            <a:pPr lvl="1">
              <a:lnSpc>
                <a:spcPts val="4815"/>
              </a:lnSpc>
              <a:spcAft>
                <a:spcPts val="1800"/>
              </a:spcAft>
            </a:pPr>
            <a:r>
              <a:rPr lang="en-US" sz="4013" spc="20" dirty="0">
                <a:solidFill>
                  <a:srgbClr val="000000"/>
                </a:solidFill>
                <a:latin typeface="Arial Nova"/>
                <a:ea typeface="Arial Nova"/>
                <a:cs typeface="Arial Nova"/>
                <a:sym typeface="Arial Nova"/>
              </a:rPr>
              <a:t>Syllabus-Dependent Functionality: AI tutoring, assessment generation, and analytics operate strictly within teacher-uploaded syllabi; lessons outside the uploaded curriculum cannot be automatically generated.</a:t>
            </a:r>
          </a:p>
          <a:p>
            <a:pPr lvl="1">
              <a:lnSpc>
                <a:spcPts val="4815"/>
              </a:lnSpc>
            </a:pPr>
            <a:endParaRPr lang="en-US" sz="4013" spc="20" dirty="0">
              <a:solidFill>
                <a:srgbClr val="000000"/>
              </a:solidFill>
              <a:latin typeface="Arial Nova"/>
              <a:ea typeface="Arial Nova"/>
              <a:cs typeface="Arial Nova"/>
              <a:sym typeface="Arial Nova"/>
            </a:endParaRPr>
          </a:p>
        </p:txBody>
      </p:sp>
      <p:grpSp>
        <p:nvGrpSpPr>
          <p:cNvPr id="7" name="Group 7"/>
          <p:cNvGrpSpPr/>
          <p:nvPr/>
        </p:nvGrpSpPr>
        <p:grpSpPr>
          <a:xfrm>
            <a:off x="551711" y="2605701"/>
            <a:ext cx="4206240" cy="505774"/>
            <a:chOff x="0" y="0"/>
            <a:chExt cx="5608320" cy="674365"/>
          </a:xfrm>
        </p:grpSpPr>
        <p:sp>
          <p:nvSpPr>
            <p:cNvPr id="8" name="Freeform 8"/>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a:solidFill>
                    <a:srgbClr val="FFFFFF"/>
                  </a:solidFill>
                  <a:latin typeface="Arial Bold"/>
                  <a:ea typeface="Arial Bold"/>
                  <a:cs typeface="Arial Bold"/>
                  <a:sym typeface="Arial Bold"/>
                </a:rPr>
                <a:t>Scope and Delimitation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551711" y="4012879"/>
            <a:ext cx="17200428" cy="5514330"/>
          </a:xfrm>
          <a:prstGeom prst="rect">
            <a:avLst/>
          </a:prstGeom>
        </p:spPr>
        <p:txBody>
          <a:bodyPr lIns="0" tIns="0" rIns="0" bIns="0" rtlCol="0" anchor="t">
            <a:spAutoFit/>
          </a:bodyPr>
          <a:lstStyle/>
          <a:p>
            <a:pPr marL="782511" lvl="1" indent="-391255" algn="l">
              <a:lnSpc>
                <a:spcPts val="4349"/>
              </a:lnSpc>
              <a:buFont typeface="Arial"/>
              <a:buChar char="•"/>
            </a:pPr>
            <a:r>
              <a:rPr lang="en-US" sz="3624" spc="18" dirty="0">
                <a:solidFill>
                  <a:srgbClr val="000000"/>
                </a:solidFill>
                <a:latin typeface="Arial Nova"/>
                <a:ea typeface="Arial Nova"/>
                <a:cs typeface="Arial Nova"/>
                <a:sym typeface="Arial Nova"/>
              </a:rPr>
              <a:t>ICT Senior High School Programming Teacher: Acts as the primary beneficiary, leveraging </a:t>
            </a:r>
            <a:r>
              <a:rPr lang="en-US" sz="3624" spc="18" dirty="0" err="1">
                <a:solidFill>
                  <a:srgbClr val="000000"/>
                </a:solidFill>
                <a:latin typeface="Arial Nova"/>
                <a:ea typeface="Arial Nova"/>
                <a:cs typeface="Arial Nova"/>
                <a:sym typeface="Arial Nova"/>
              </a:rPr>
              <a:t>InstructAI</a:t>
            </a:r>
            <a:r>
              <a:rPr lang="en-US" sz="3624" spc="18" dirty="0">
                <a:solidFill>
                  <a:srgbClr val="000000"/>
                </a:solidFill>
                <a:latin typeface="Arial Nova"/>
                <a:ea typeface="Arial Nova"/>
                <a:cs typeface="Arial Nova"/>
                <a:sym typeface="Arial Nova"/>
              </a:rPr>
              <a:t> to manage virtual classes, upload and structure syllabi, generate lesson materials and assessments, monitor learner progress via analytics dashboards, identify struggling students early, and reduce repetitive instructional workload through AI-powered instructional support.</a:t>
            </a:r>
          </a:p>
          <a:p>
            <a:pPr marL="782511" lvl="1" indent="-391255" algn="l">
              <a:lnSpc>
                <a:spcPts val="4349"/>
              </a:lnSpc>
              <a:buFont typeface="Arial"/>
              <a:buChar char="•"/>
            </a:pPr>
            <a:endParaRPr lang="en-US" sz="3624" spc="18" dirty="0">
              <a:solidFill>
                <a:srgbClr val="000000"/>
              </a:solidFill>
              <a:latin typeface="Arial Nova"/>
              <a:ea typeface="Arial Nova"/>
              <a:cs typeface="Arial Nova"/>
              <a:sym typeface="Arial Nova"/>
            </a:endParaRPr>
          </a:p>
          <a:p>
            <a:pPr marL="782511" lvl="1" indent="-391255" algn="l">
              <a:lnSpc>
                <a:spcPts val="4349"/>
              </a:lnSpc>
              <a:buFont typeface="Arial"/>
              <a:buChar char="•"/>
            </a:pPr>
            <a:r>
              <a:rPr lang="en-US" sz="3624" spc="18" dirty="0">
                <a:solidFill>
                  <a:srgbClr val="000000"/>
                </a:solidFill>
                <a:latin typeface="Arial Nova"/>
                <a:ea typeface="Arial Nova"/>
                <a:cs typeface="Arial Nova"/>
                <a:sym typeface="Arial Nova"/>
              </a:rPr>
              <a:t>Students: Benefit indirectly by receiving personalized, conversational, and voice-enabled tutoring within teacher-approved lessons, practicing coding independently, and obtaining immediate explanations and feedback that reinforce understanding of programming concepts.</a:t>
            </a:r>
          </a:p>
        </p:txBody>
      </p:sp>
      <p:grpSp>
        <p:nvGrpSpPr>
          <p:cNvPr id="7" name="Group 7"/>
          <p:cNvGrpSpPr/>
          <p:nvPr/>
        </p:nvGrpSpPr>
        <p:grpSpPr>
          <a:xfrm>
            <a:off x="465772" y="2868930"/>
            <a:ext cx="4206240" cy="505774"/>
            <a:chOff x="0" y="0"/>
            <a:chExt cx="5608320" cy="674365"/>
          </a:xfrm>
        </p:grpSpPr>
        <p:sp>
          <p:nvSpPr>
            <p:cNvPr id="8" name="Freeform 8"/>
            <p:cNvSpPr/>
            <p:nvPr/>
          </p:nvSpPr>
          <p:spPr>
            <a:xfrm>
              <a:off x="0" y="0"/>
              <a:ext cx="5608320" cy="674365"/>
            </a:xfrm>
            <a:custGeom>
              <a:avLst/>
              <a:gdLst/>
              <a:ahLst/>
              <a:cxnLst/>
              <a:rect l="l" t="t" r="r" b="b"/>
              <a:pathLst>
                <a:path w="5608320" h="674365">
                  <a:moveTo>
                    <a:pt x="0" y="337183"/>
                  </a:moveTo>
                  <a:cubicBezTo>
                    <a:pt x="0" y="150952"/>
                    <a:pt x="122809" y="0"/>
                    <a:pt x="274320" y="0"/>
                  </a:cubicBezTo>
                  <a:lnTo>
                    <a:pt x="5334000" y="0"/>
                  </a:lnTo>
                  <a:cubicBezTo>
                    <a:pt x="5485511" y="0"/>
                    <a:pt x="5608320" y="150952"/>
                    <a:pt x="5608320" y="337183"/>
                  </a:cubicBezTo>
                  <a:cubicBezTo>
                    <a:pt x="5608320" y="523413"/>
                    <a:pt x="5485511" y="674365"/>
                    <a:pt x="5334000" y="674365"/>
                  </a:cubicBezTo>
                  <a:lnTo>
                    <a:pt x="274320" y="674365"/>
                  </a:lnTo>
                  <a:cubicBezTo>
                    <a:pt x="122809" y="674365"/>
                    <a:pt x="0" y="523413"/>
                    <a:pt x="0" y="337183"/>
                  </a:cubicBezTo>
                  <a:close/>
                </a:path>
              </a:pathLst>
            </a:custGeom>
            <a:solidFill>
              <a:srgbClr val="002060"/>
            </a:solidFill>
            <a:ln w="12700">
              <a:solidFill>
                <a:srgbClr val="000000"/>
              </a:solidFill>
            </a:ln>
          </p:spPr>
        </p:sp>
        <p:sp>
          <p:nvSpPr>
            <p:cNvPr id="9" name="TextBox 9"/>
            <p:cNvSpPr txBox="1"/>
            <p:nvPr/>
          </p:nvSpPr>
          <p:spPr>
            <a:xfrm>
              <a:off x="0" y="-9525"/>
              <a:ext cx="5608320" cy="683890"/>
            </a:xfrm>
            <a:prstGeom prst="rect">
              <a:avLst/>
            </a:prstGeom>
          </p:spPr>
          <p:txBody>
            <a:bodyPr lIns="50800" tIns="50800" rIns="50800" bIns="50800" rtlCol="0" anchor="ctr"/>
            <a:lstStyle/>
            <a:p>
              <a:pPr algn="ctr">
                <a:lnSpc>
                  <a:spcPts val="2520"/>
                </a:lnSpc>
              </a:pPr>
              <a:r>
                <a:rPr lang="en-US" sz="2100" b="1">
                  <a:solidFill>
                    <a:srgbClr val="FFFFFF"/>
                  </a:solidFill>
                  <a:latin typeface="Arial Bold"/>
                  <a:ea typeface="Arial Bold"/>
                  <a:cs typeface="Arial Bold"/>
                  <a:sym typeface="Arial Bold"/>
                </a:rPr>
                <a:t>Beneficiaries</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AutoShape 6"/>
          <p:cNvSpPr/>
          <p:nvPr/>
        </p:nvSpPr>
        <p:spPr>
          <a:xfrm rot="9840">
            <a:off x="1652026" y="3376917"/>
            <a:ext cx="14983949" cy="0"/>
          </a:xfrm>
          <a:prstGeom prst="line">
            <a:avLst/>
          </a:prstGeom>
          <a:ln w="19050" cap="rnd">
            <a:solidFill>
              <a:srgbClr val="7F7F7F"/>
            </a:solidFill>
            <a:prstDash val="solid"/>
            <a:headEnd type="none" w="sm" len="sm"/>
            <a:tailEnd type="none" w="sm" len="sm"/>
          </a:ln>
        </p:spPr>
      </p:sp>
      <p:grpSp>
        <p:nvGrpSpPr>
          <p:cNvPr id="7" name="Group 7"/>
          <p:cNvGrpSpPr/>
          <p:nvPr/>
        </p:nvGrpSpPr>
        <p:grpSpPr>
          <a:xfrm>
            <a:off x="1137990" y="317592"/>
            <a:ext cx="1294181" cy="1299372"/>
            <a:chOff x="0" y="0"/>
            <a:chExt cx="1725574" cy="1732496"/>
          </a:xfrm>
        </p:grpSpPr>
        <p:sp>
          <p:nvSpPr>
            <p:cNvPr id="8" name="Freeform 8"/>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9" name="Group 9"/>
          <p:cNvGrpSpPr/>
          <p:nvPr/>
        </p:nvGrpSpPr>
        <p:grpSpPr>
          <a:xfrm>
            <a:off x="2497941" y="297113"/>
            <a:ext cx="1319841" cy="1319841"/>
            <a:chOff x="0" y="0"/>
            <a:chExt cx="1759788" cy="1759788"/>
          </a:xfrm>
        </p:grpSpPr>
        <p:sp>
          <p:nvSpPr>
            <p:cNvPr id="10" name="Freeform 10"/>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1" name="TextBox 11"/>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PAPAYA OFF-CAMPUS</a:t>
            </a:r>
          </a:p>
        </p:txBody>
      </p:sp>
      <p:grpSp>
        <p:nvGrpSpPr>
          <p:cNvPr id="12" name="Group 12"/>
          <p:cNvGrpSpPr/>
          <p:nvPr/>
        </p:nvGrpSpPr>
        <p:grpSpPr>
          <a:xfrm>
            <a:off x="3926415" y="344900"/>
            <a:ext cx="8250345" cy="461667"/>
            <a:chOff x="0" y="0"/>
            <a:chExt cx="11000461" cy="615556"/>
          </a:xfrm>
        </p:grpSpPr>
        <p:sp>
          <p:nvSpPr>
            <p:cNvPr id="13" name="Freeform 13"/>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4" name="TextBox 14"/>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a:ea typeface="Arial"/>
                  <a:cs typeface="Arial"/>
                  <a:sym typeface="Arial"/>
                </a:rPr>
                <a:t>NUEVA ECIJA UNIVERSITY OF SCIENCE AND TECHNOLOGY</a:t>
              </a:r>
            </a:p>
          </p:txBody>
        </p:sp>
      </p:grpSp>
      <p:sp>
        <p:nvSpPr>
          <p:cNvPr id="15" name="TextBox 15"/>
          <p:cNvSpPr txBox="1"/>
          <p:nvPr/>
        </p:nvSpPr>
        <p:spPr>
          <a:xfrm>
            <a:off x="333080" y="5283508"/>
            <a:ext cx="17381820" cy="1322165"/>
          </a:xfrm>
          <a:prstGeom prst="rect">
            <a:avLst/>
          </a:prstGeom>
        </p:spPr>
        <p:txBody>
          <a:bodyPr lIns="0" tIns="0" rIns="0" bIns="0" rtlCol="0" anchor="t">
            <a:spAutoFit/>
          </a:bodyPr>
          <a:lstStyle/>
          <a:p>
            <a:pPr algn="ctr">
              <a:lnSpc>
                <a:spcPts val="9720"/>
              </a:lnSpc>
            </a:pPr>
            <a:r>
              <a:rPr lang="en-US" sz="8100" b="1">
                <a:solidFill>
                  <a:srgbClr val="002060"/>
                </a:solidFill>
                <a:latin typeface="Arial Bold"/>
                <a:ea typeface="Arial Bold"/>
                <a:cs typeface="Arial Bold"/>
                <a:sym typeface="Arial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985</TotalTime>
  <Words>993</Words>
  <Application>Microsoft Office PowerPoint</Application>
  <PresentationFormat>Custom</PresentationFormat>
  <Paragraphs>127</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 Bold</vt:lpstr>
      <vt:lpstr>Arial Nova</vt:lpstr>
      <vt:lpstr>Arial Nova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CapstoneTitles</dc:title>
  <cp:lastModifiedBy>EDRICK MARTIN</cp:lastModifiedBy>
  <cp:revision>7</cp:revision>
  <dcterms:created xsi:type="dcterms:W3CDTF">2006-08-16T00:00:00Z</dcterms:created>
  <dcterms:modified xsi:type="dcterms:W3CDTF">2026-09-28T15:40:38Z</dcterms:modified>
  <dc:identifier>DAG_mLHviWc</dc:identifier>
</cp:coreProperties>
</file>