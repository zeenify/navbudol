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92" r:id="rId9"/>
    <p:sldId id="293" r:id="rId10"/>
    <p:sldId id="266" r:id="rId11"/>
    <p:sldId id="289" r:id="rId12"/>
  </p:sldIdLst>
  <p:sldSz cx="18288000" cy="10287000"/>
  <p:notesSz cx="6858000" cy="9144000"/>
  <p:embeddedFontLst>
    <p:embeddedFont>
      <p:font typeface="Arial Bold" panose="020B0704020202020204" pitchFamily="34" charset="0"/>
      <p:regular r:id="rId14"/>
      <p:bold r:id="rId15"/>
    </p:embeddedFont>
    <p:embeddedFont>
      <p:font typeface="Arial Nova" panose="020B0504020202020204" pitchFamily="34" charset="0"/>
      <p:regular r:id="rId16"/>
      <p:bold r:id="rId17"/>
      <p:italic r:id="rId18"/>
      <p:boldItalic r:id="rId19"/>
    </p:embeddedFont>
    <p:embeddedFont>
      <p:font typeface="Arial Nova Bold" panose="020B08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22" autoAdjust="0"/>
  </p:normalViewPr>
  <p:slideViewPr>
    <p:cSldViewPr>
      <p:cViewPr varScale="1">
        <p:scale>
          <a:sx n="70" d="100"/>
          <a:sy n="70" d="100"/>
        </p:scale>
        <p:origin x="73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2C773-4C1E-F4D2-E3FD-93CE12B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D6A8FD-6B00-EAF6-E7A1-6FEBF3AA41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70960-0042-3D00-2D74-0FC3309F0D5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01C2A6E-C3C2-F99B-3C58-0B764846DA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3D67F24-9AC1-A8CE-0933-A6F7D744B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CC275-2DBA-9404-08DF-2E7E2BAF54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3A111-9542-226F-3408-4B8C2780B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49859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22C6-0058-D35F-C288-AE0A64864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C30015-3D29-B272-7A13-C92548AC5A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CC8B1-9E58-186E-528B-0F388AAAFD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5DD2244-8C50-F344-A573-D9DE23807B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662B5CF-8A9E-0062-E762-0A5E6BAF0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F476B-E1DC-3754-26C8-A1B94956F0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3A579-3268-A20F-1677-4D57F3A0C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5210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1621"/>
            <a:ext cx="18303850" cy="1988344"/>
            <a:chOff x="0" y="0"/>
            <a:chExt cx="24405133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F08E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3850" cy="1988344"/>
            <a:chOff x="0" y="0"/>
            <a:chExt cx="24405133" cy="2651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46020" y="3862258"/>
            <a:ext cx="8765318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6000" b="1" dirty="0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Martin, Edrick V.</a:t>
            </a:r>
          </a:p>
          <a:p>
            <a:pPr algn="l">
              <a:lnSpc>
                <a:spcPct val="150000"/>
              </a:lnSpc>
            </a:pPr>
            <a:r>
              <a:rPr lang="en-US" sz="6000" b="1" dirty="0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Aberin, John Cedrick G.</a:t>
            </a:r>
          </a:p>
          <a:p>
            <a:pPr algn="l"/>
            <a:r>
              <a:rPr lang="en-US" sz="6000" b="1" dirty="0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Quijano, Justine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274484" y="3623491"/>
            <a:ext cx="2331720" cy="411480"/>
            <a:chOff x="0" y="0"/>
            <a:chExt cx="3108960" cy="54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08960" cy="548640"/>
            </a:xfrm>
            <a:custGeom>
              <a:avLst/>
              <a:gdLst/>
              <a:ahLst/>
              <a:cxnLst/>
              <a:rect l="l" t="t" r="r" b="b"/>
              <a:pathLst>
                <a:path w="3108960" h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834640" y="0"/>
                  </a:lnTo>
                  <a:cubicBezTo>
                    <a:pt x="2986151" y="0"/>
                    <a:pt x="3108960" y="122809"/>
                    <a:pt x="3108960" y="274320"/>
                  </a:cubicBezTo>
                  <a:cubicBezTo>
                    <a:pt x="3108960" y="425831"/>
                    <a:pt x="2986151" y="548640"/>
                    <a:pt x="283464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3108960" cy="558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PROPONENTS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7990" y="317592"/>
            <a:ext cx="1294181" cy="1299372"/>
            <a:chOff x="0" y="0"/>
            <a:chExt cx="1725574" cy="17324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25549" cy="1732534"/>
            </a:xfrm>
            <a:custGeom>
              <a:avLst/>
              <a:gdLst/>
              <a:ahLst/>
              <a:cxnLst/>
              <a:rect l="l" t="t" r="r" b="b"/>
              <a:pathLst>
                <a:path w="1725549" h="1732534">
                  <a:moveTo>
                    <a:pt x="0" y="0"/>
                  </a:moveTo>
                  <a:lnTo>
                    <a:pt x="1725549" y="0"/>
                  </a:lnTo>
                  <a:lnTo>
                    <a:pt x="1725549" y="1732534"/>
                  </a:lnTo>
                  <a:lnTo>
                    <a:pt x="0" y="173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497941" y="297113"/>
            <a:ext cx="1319841" cy="1319841"/>
            <a:chOff x="0" y="0"/>
            <a:chExt cx="1759788" cy="17597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59839" cy="1759839"/>
            </a:xfrm>
            <a:custGeom>
              <a:avLst/>
              <a:gdLst/>
              <a:ahLst/>
              <a:cxnLst/>
              <a:rect l="l" t="t" r="r" b="b"/>
              <a:pathLst>
                <a:path w="1759839" h="1759839">
                  <a:moveTo>
                    <a:pt x="0" y="0"/>
                  </a:moveTo>
                  <a:lnTo>
                    <a:pt x="1759839" y="0"/>
                  </a:lnTo>
                  <a:lnTo>
                    <a:pt x="1759839" y="1759839"/>
                  </a:lnTo>
                  <a:lnTo>
                    <a:pt x="0" y="175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2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3974992" y="551774"/>
            <a:ext cx="8560422" cy="99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PAPAYA OFF-CAMPUS</a:t>
            </a:r>
          </a:p>
        </p:txBody>
      </p:sp>
      <p:sp>
        <p:nvSpPr>
          <p:cNvPr id="18" name="AutoShape 18"/>
          <p:cNvSpPr/>
          <p:nvPr/>
        </p:nvSpPr>
        <p:spPr>
          <a:xfrm rot="17220">
            <a:off x="104661" y="5190306"/>
            <a:ext cx="8555145" cy="0"/>
          </a:xfrm>
          <a:prstGeom prst="line">
            <a:avLst/>
          </a:prstGeom>
          <a:ln w="19050" cap="rnd">
            <a:solidFill>
              <a:srgbClr val="F08E1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 dirty="0"/>
          </a:p>
        </p:txBody>
      </p:sp>
      <p:grpSp>
        <p:nvGrpSpPr>
          <p:cNvPr id="19" name="Group 19"/>
          <p:cNvGrpSpPr/>
          <p:nvPr/>
        </p:nvGrpSpPr>
        <p:grpSpPr>
          <a:xfrm>
            <a:off x="3926415" y="344900"/>
            <a:ext cx="8250345" cy="461667"/>
            <a:chOff x="0" y="0"/>
            <a:chExt cx="11000461" cy="6155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000456" cy="615554"/>
            </a:xfrm>
            <a:custGeom>
              <a:avLst/>
              <a:gdLst/>
              <a:ahLst/>
              <a:cxnLst/>
              <a:rect l="l" t="t" r="r" b="b"/>
              <a:pathLst>
                <a:path w="11000456" h="615554">
                  <a:moveTo>
                    <a:pt x="0" y="0"/>
                  </a:moveTo>
                  <a:lnTo>
                    <a:pt x="11000456" y="0"/>
                  </a:lnTo>
                  <a:lnTo>
                    <a:pt x="11000456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1000461" cy="625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ECIJA UNIVERSITY OF SCIENCE AND TECHNOLOGY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4036" y="2519277"/>
            <a:ext cx="4206240" cy="411480"/>
            <a:chOff x="0" y="0"/>
            <a:chExt cx="5608320" cy="548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08320" cy="548640"/>
            </a:xfrm>
            <a:custGeom>
              <a:avLst/>
              <a:gdLst/>
              <a:ahLst/>
              <a:cxnLst/>
              <a:rect l="l" t="t" r="r" b="b"/>
              <a:pathLst>
                <a:path w="5608320" h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5334000" y="0"/>
                  </a:lnTo>
                  <a:cubicBezTo>
                    <a:pt x="5485511" y="0"/>
                    <a:pt x="5608320" y="122809"/>
                    <a:pt x="5608320" y="274320"/>
                  </a:cubicBezTo>
                  <a:cubicBezTo>
                    <a:pt x="5608320" y="425831"/>
                    <a:pt x="5485511" y="548640"/>
                    <a:pt x="53340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5608320" cy="558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TITLE 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289598" y="0"/>
            <a:ext cx="1994821" cy="1999031"/>
            <a:chOff x="0" y="0"/>
            <a:chExt cx="2659761" cy="266537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59761" cy="2665349"/>
            </a:xfrm>
            <a:custGeom>
              <a:avLst/>
              <a:gdLst/>
              <a:ahLst/>
              <a:cxnLst/>
              <a:rect l="l" t="t" r="r" b="b"/>
              <a:pathLst>
                <a:path w="2659761" h="2665349">
                  <a:moveTo>
                    <a:pt x="0" y="0"/>
                  </a:moveTo>
                  <a:lnTo>
                    <a:pt x="2659761" y="0"/>
                  </a:lnTo>
                  <a:lnTo>
                    <a:pt x="2659761" y="2665349"/>
                  </a:lnTo>
                  <a:lnTo>
                    <a:pt x="0" y="2665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7" name="AutoShape 27"/>
          <p:cNvSpPr/>
          <p:nvPr/>
        </p:nvSpPr>
        <p:spPr>
          <a:xfrm rot="17220">
            <a:off x="104661" y="6383179"/>
            <a:ext cx="8555145" cy="0"/>
          </a:xfrm>
          <a:prstGeom prst="line">
            <a:avLst/>
          </a:prstGeom>
          <a:ln w="19050" cap="rnd">
            <a:solidFill>
              <a:srgbClr val="F08E1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rot="17220">
            <a:off x="-21488" y="7521750"/>
            <a:ext cx="8555145" cy="0"/>
          </a:xfrm>
          <a:prstGeom prst="line">
            <a:avLst/>
          </a:prstGeom>
          <a:ln w="19050" cap="rnd">
            <a:solidFill>
              <a:srgbClr val="F08E1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rot="17220">
            <a:off x="66437" y="8724814"/>
            <a:ext cx="8555145" cy="0"/>
          </a:xfrm>
          <a:prstGeom prst="line">
            <a:avLst/>
          </a:prstGeom>
          <a:ln w="19050" cap="rnd">
            <a:solidFill>
              <a:srgbClr val="F08E1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rot="17220">
            <a:off x="114262" y="9755219"/>
            <a:ext cx="8555145" cy="0"/>
          </a:xfrm>
          <a:prstGeom prst="line">
            <a:avLst/>
          </a:prstGeom>
          <a:ln w="19050" cap="rnd">
            <a:solidFill>
              <a:srgbClr val="F08E1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1621"/>
            <a:ext cx="18303850" cy="1988344"/>
            <a:chOff x="0" y="0"/>
            <a:chExt cx="24405133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F08E1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3850" cy="1988344"/>
            <a:chOff x="0" y="0"/>
            <a:chExt cx="24405133" cy="2651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7990" y="317592"/>
            <a:ext cx="1294181" cy="1299372"/>
            <a:chOff x="0" y="0"/>
            <a:chExt cx="1725574" cy="17324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25549" cy="1732534"/>
            </a:xfrm>
            <a:custGeom>
              <a:avLst/>
              <a:gdLst/>
              <a:ahLst/>
              <a:cxnLst/>
              <a:rect l="l" t="t" r="r" b="b"/>
              <a:pathLst>
                <a:path w="1725549" h="1732534">
                  <a:moveTo>
                    <a:pt x="0" y="0"/>
                  </a:moveTo>
                  <a:lnTo>
                    <a:pt x="1725549" y="0"/>
                  </a:lnTo>
                  <a:lnTo>
                    <a:pt x="1725549" y="1732534"/>
                  </a:lnTo>
                  <a:lnTo>
                    <a:pt x="0" y="173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3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97941" y="297113"/>
            <a:ext cx="1319841" cy="1319841"/>
            <a:chOff x="0" y="0"/>
            <a:chExt cx="1759788" cy="17597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59839" cy="1759839"/>
            </a:xfrm>
            <a:custGeom>
              <a:avLst/>
              <a:gdLst/>
              <a:ahLst/>
              <a:cxnLst/>
              <a:rect l="l" t="t" r="r" b="b"/>
              <a:pathLst>
                <a:path w="1759839" h="1759839">
                  <a:moveTo>
                    <a:pt x="0" y="0"/>
                  </a:moveTo>
                  <a:lnTo>
                    <a:pt x="1759839" y="0"/>
                  </a:lnTo>
                  <a:lnTo>
                    <a:pt x="1759839" y="1759839"/>
                  </a:lnTo>
                  <a:lnTo>
                    <a:pt x="0" y="175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974973" y="551755"/>
            <a:ext cx="8560451" cy="999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PAPAYA OFF-CAMPUS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926415" y="344900"/>
            <a:ext cx="8250345" cy="461667"/>
            <a:chOff x="0" y="0"/>
            <a:chExt cx="11000461" cy="6155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00456" cy="615554"/>
            </a:xfrm>
            <a:custGeom>
              <a:avLst/>
              <a:gdLst/>
              <a:ahLst/>
              <a:cxnLst/>
              <a:rect l="l" t="t" r="r" b="b"/>
              <a:pathLst>
                <a:path w="11000456" h="615554">
                  <a:moveTo>
                    <a:pt x="0" y="0"/>
                  </a:moveTo>
                  <a:lnTo>
                    <a:pt x="11000456" y="0"/>
                  </a:lnTo>
                  <a:lnTo>
                    <a:pt x="11000456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1000461" cy="625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ECIJA UNIVERSITY OF SCIENCE AND TECHNOLOGY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17011" y="3881519"/>
            <a:ext cx="15269789" cy="171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6000" b="1" spc="27" dirty="0" err="1">
                <a:solidFill>
                  <a:srgbClr val="00206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NavBudol</a:t>
            </a:r>
            <a:r>
              <a:rPr lang="en-US" sz="6000" b="1" spc="27" dirty="0">
                <a:solidFill>
                  <a:srgbClr val="00206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: </a:t>
            </a:r>
            <a:r>
              <a:rPr sz="6000" b="1" dirty="0">
                <a:solidFill>
                  <a:srgbClr val="002060"/>
                </a:solidFill>
                <a:latin typeface="Arial Nova Bold"/>
              </a:rPr>
              <a:t>An AI Navigation Companion That Learns the Town From Its People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1621"/>
            <a:ext cx="18303850" cy="1988344"/>
            <a:chOff x="0" y="0"/>
            <a:chExt cx="24405133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F08E1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3850" cy="1988344"/>
            <a:chOff x="0" y="0"/>
            <a:chExt cx="24405133" cy="2651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53151" y="3086100"/>
            <a:ext cx="17850661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dirty="0"/>
              <a:t>The map ends where the pavement does. In a small town, the places that matter are not on any map: your classmate's house, the canteen, the street that floods. People share them daily as pins in group chats, but a chat pin is for one person, one time. It is not on any map, and it dies in the scroll. The knowledge is already being shared. It just never becomes a map.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46847" y="2540099"/>
            <a:ext cx="4206240" cy="411480"/>
            <a:chOff x="0" y="0"/>
            <a:chExt cx="5608320" cy="5486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08320" cy="548640"/>
            </a:xfrm>
            <a:custGeom>
              <a:avLst/>
              <a:gdLst/>
              <a:ahLst/>
              <a:cxnLst/>
              <a:rect l="l" t="t" r="r" b="b"/>
              <a:pathLst>
                <a:path w="5608320" h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5334000" y="0"/>
                  </a:lnTo>
                  <a:cubicBezTo>
                    <a:pt x="5485511" y="0"/>
                    <a:pt x="5608320" y="122809"/>
                    <a:pt x="5608320" y="274320"/>
                  </a:cubicBezTo>
                  <a:cubicBezTo>
                    <a:pt x="5608320" y="425831"/>
                    <a:pt x="5485511" y="548640"/>
                    <a:pt x="53340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5608320" cy="558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7990" y="317592"/>
            <a:ext cx="1294181" cy="1299372"/>
            <a:chOff x="0" y="0"/>
            <a:chExt cx="1725574" cy="17324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25549" cy="1732534"/>
            </a:xfrm>
            <a:custGeom>
              <a:avLst/>
              <a:gdLst/>
              <a:ahLst/>
              <a:cxnLst/>
              <a:rect l="l" t="t" r="r" b="b"/>
              <a:pathLst>
                <a:path w="1725549" h="1732534">
                  <a:moveTo>
                    <a:pt x="0" y="0"/>
                  </a:moveTo>
                  <a:lnTo>
                    <a:pt x="1725549" y="0"/>
                  </a:lnTo>
                  <a:lnTo>
                    <a:pt x="1725549" y="1732534"/>
                  </a:lnTo>
                  <a:lnTo>
                    <a:pt x="0" y="173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3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497941" y="297113"/>
            <a:ext cx="1319841" cy="1319841"/>
            <a:chOff x="0" y="0"/>
            <a:chExt cx="1759788" cy="1759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9839" cy="1759839"/>
            </a:xfrm>
            <a:custGeom>
              <a:avLst/>
              <a:gdLst/>
              <a:ahLst/>
              <a:cxnLst/>
              <a:rect l="l" t="t" r="r" b="b"/>
              <a:pathLst>
                <a:path w="1759839" h="1759839">
                  <a:moveTo>
                    <a:pt x="0" y="0"/>
                  </a:moveTo>
                  <a:lnTo>
                    <a:pt x="1759839" y="0"/>
                  </a:lnTo>
                  <a:lnTo>
                    <a:pt x="1759839" y="1759839"/>
                  </a:lnTo>
                  <a:lnTo>
                    <a:pt x="0" y="175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2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3974973" y="551755"/>
            <a:ext cx="8560451" cy="999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PAPAYA OFF-CAMPUS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926415" y="344900"/>
            <a:ext cx="8250345" cy="461667"/>
            <a:chOff x="0" y="0"/>
            <a:chExt cx="11000461" cy="615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00456" cy="615554"/>
            </a:xfrm>
            <a:custGeom>
              <a:avLst/>
              <a:gdLst/>
              <a:ahLst/>
              <a:cxnLst/>
              <a:rect l="l" t="t" r="r" b="b"/>
              <a:pathLst>
                <a:path w="11000456" h="615554">
                  <a:moveTo>
                    <a:pt x="0" y="0"/>
                  </a:moveTo>
                  <a:lnTo>
                    <a:pt x="11000456" y="0"/>
                  </a:lnTo>
                  <a:lnTo>
                    <a:pt x="11000456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1000461" cy="625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ECIJA UNIVERSITY OF SCIENCE AND TECHNOLOGY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1621"/>
            <a:ext cx="18303850" cy="1988344"/>
            <a:chOff x="0" y="0"/>
            <a:chExt cx="24405133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F08E1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3850" cy="1988344"/>
            <a:chOff x="0" y="0"/>
            <a:chExt cx="24405133" cy="2651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7896" y="3507540"/>
            <a:ext cx="17228058" cy="5816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5400" dirty="0"/>
              <a:t>NavBudol is the search box for word of mouth, and it learns the town from its people. Say where you want to go, and the co-pilot finds it, draws the route, and starts the trip. Anyone can add a place, like a canteen inside a school, and report floods or checkpoints. Reports expire, the community confirms them, and the map stays honest. And it learns from every ride: slow riders on one road become traffic, and the next rider goes around.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65772" y="2868930"/>
            <a:ext cx="4206240" cy="411480"/>
            <a:chOff x="0" y="0"/>
            <a:chExt cx="5608320" cy="5486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08320" cy="548640"/>
            </a:xfrm>
            <a:custGeom>
              <a:avLst/>
              <a:gdLst/>
              <a:ahLst/>
              <a:cxnLst/>
              <a:rect l="l" t="t" r="r" b="b"/>
              <a:pathLst>
                <a:path w="5608320" h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5334000" y="0"/>
                  </a:lnTo>
                  <a:cubicBezTo>
                    <a:pt x="5485511" y="0"/>
                    <a:pt x="5608320" y="122809"/>
                    <a:pt x="5608320" y="274320"/>
                  </a:cubicBezTo>
                  <a:cubicBezTo>
                    <a:pt x="5608320" y="425831"/>
                    <a:pt x="5485511" y="548640"/>
                    <a:pt x="53340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5608320" cy="558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7990" y="317592"/>
            <a:ext cx="1294181" cy="1299372"/>
            <a:chOff x="0" y="0"/>
            <a:chExt cx="1725574" cy="17324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25549" cy="1732534"/>
            </a:xfrm>
            <a:custGeom>
              <a:avLst/>
              <a:gdLst/>
              <a:ahLst/>
              <a:cxnLst/>
              <a:rect l="l" t="t" r="r" b="b"/>
              <a:pathLst>
                <a:path w="1725549" h="1732534">
                  <a:moveTo>
                    <a:pt x="0" y="0"/>
                  </a:moveTo>
                  <a:lnTo>
                    <a:pt x="1725549" y="0"/>
                  </a:lnTo>
                  <a:lnTo>
                    <a:pt x="1725549" y="1732534"/>
                  </a:lnTo>
                  <a:lnTo>
                    <a:pt x="0" y="173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3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497941" y="297113"/>
            <a:ext cx="1319841" cy="1319841"/>
            <a:chOff x="0" y="0"/>
            <a:chExt cx="1759788" cy="1759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9839" cy="1759839"/>
            </a:xfrm>
            <a:custGeom>
              <a:avLst/>
              <a:gdLst/>
              <a:ahLst/>
              <a:cxnLst/>
              <a:rect l="l" t="t" r="r" b="b"/>
              <a:pathLst>
                <a:path w="1759839" h="1759839">
                  <a:moveTo>
                    <a:pt x="0" y="0"/>
                  </a:moveTo>
                  <a:lnTo>
                    <a:pt x="1759839" y="0"/>
                  </a:lnTo>
                  <a:lnTo>
                    <a:pt x="1759839" y="1759839"/>
                  </a:lnTo>
                  <a:lnTo>
                    <a:pt x="0" y="175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2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3974973" y="551755"/>
            <a:ext cx="8560451" cy="999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PAPAYA OFF-CAMPUS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926415" y="344900"/>
            <a:ext cx="8250345" cy="461667"/>
            <a:chOff x="0" y="0"/>
            <a:chExt cx="11000461" cy="615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00456" cy="615554"/>
            </a:xfrm>
            <a:custGeom>
              <a:avLst/>
              <a:gdLst/>
              <a:ahLst/>
              <a:cxnLst/>
              <a:rect l="l" t="t" r="r" b="b"/>
              <a:pathLst>
                <a:path w="11000456" h="615554">
                  <a:moveTo>
                    <a:pt x="0" y="0"/>
                  </a:moveTo>
                  <a:lnTo>
                    <a:pt x="11000456" y="0"/>
                  </a:lnTo>
                  <a:lnTo>
                    <a:pt x="11000456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1000461" cy="625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ECIJA UNIVERSITY OF SCIENCE AND TECHNOLOGY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1621"/>
            <a:ext cx="18303850" cy="1988344"/>
            <a:chOff x="0" y="0"/>
            <a:chExt cx="24405133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F08E1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3850" cy="1988344"/>
            <a:chOff x="0" y="0"/>
            <a:chExt cx="24405133" cy="2651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5772" y="3390900"/>
            <a:ext cx="16691315" cy="6531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39"/>
              </a:lnSpc>
              <a:spcAft>
                <a:spcPts val="1800"/>
              </a:spcAft>
            </a:pPr>
            <a:r>
              <a:rPr lang="fr-FR" sz="4400" dirty="0"/>
              <a:t>Part 1: A co-pilot that drives the map</a:t>
            </a:r>
          </a:p>
          <a:p>
            <a:pPr marL="1028700" lvl="1" indent="-571500">
              <a:lnSpc>
                <a:spcPts val="5139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spc="21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Ask it where you want to go, and it finds the place, draws the route, and starts navigation on its own.</a:t>
            </a:r>
          </a:p>
          <a:p>
            <a:pPr marL="1028700" lvl="1" indent="-571500">
              <a:lnSpc>
                <a:spcPts val="5139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spc="21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It answers along the way: how far, how long, which way, and what the weather looks like ahead.</a:t>
            </a:r>
          </a:p>
          <a:p>
            <a:pPr marL="1028700" lvl="1" indent="-571500">
              <a:lnSpc>
                <a:spcPts val="5139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spc="21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It plans for both driving and walking, and travel times follow how people actually move here.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65772" y="2671845"/>
            <a:ext cx="4206240" cy="505774"/>
            <a:chOff x="0" y="0"/>
            <a:chExt cx="5608320" cy="6743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08320" cy="674365"/>
            </a:xfrm>
            <a:custGeom>
              <a:avLst/>
              <a:gdLst/>
              <a:ahLst/>
              <a:cxnLst/>
              <a:rect l="l" t="t" r="r" b="b"/>
              <a:pathLst>
                <a:path w="5608320" h="674365">
                  <a:moveTo>
                    <a:pt x="0" y="337183"/>
                  </a:moveTo>
                  <a:cubicBezTo>
                    <a:pt x="0" y="150952"/>
                    <a:pt x="122809" y="0"/>
                    <a:pt x="274320" y="0"/>
                  </a:cubicBezTo>
                  <a:lnTo>
                    <a:pt x="5334000" y="0"/>
                  </a:lnTo>
                  <a:cubicBezTo>
                    <a:pt x="5485511" y="0"/>
                    <a:pt x="5608320" y="150952"/>
                    <a:pt x="5608320" y="337183"/>
                  </a:cubicBezTo>
                  <a:cubicBezTo>
                    <a:pt x="5608320" y="523413"/>
                    <a:pt x="5485511" y="674365"/>
                    <a:pt x="5334000" y="674365"/>
                  </a:cubicBezTo>
                  <a:lnTo>
                    <a:pt x="274320" y="674365"/>
                  </a:lnTo>
                  <a:cubicBezTo>
                    <a:pt x="122809" y="674365"/>
                    <a:pt x="0" y="523413"/>
                    <a:pt x="0" y="337183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5608320" cy="683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Scope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7990" y="317592"/>
            <a:ext cx="1294181" cy="1299372"/>
            <a:chOff x="0" y="0"/>
            <a:chExt cx="1725574" cy="17324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25549" cy="1732534"/>
            </a:xfrm>
            <a:custGeom>
              <a:avLst/>
              <a:gdLst/>
              <a:ahLst/>
              <a:cxnLst/>
              <a:rect l="l" t="t" r="r" b="b"/>
              <a:pathLst>
                <a:path w="1725549" h="1732534">
                  <a:moveTo>
                    <a:pt x="0" y="0"/>
                  </a:moveTo>
                  <a:lnTo>
                    <a:pt x="1725549" y="0"/>
                  </a:lnTo>
                  <a:lnTo>
                    <a:pt x="1725549" y="1732534"/>
                  </a:lnTo>
                  <a:lnTo>
                    <a:pt x="0" y="173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3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97941" y="297113"/>
            <a:ext cx="1319841" cy="1319841"/>
            <a:chOff x="0" y="0"/>
            <a:chExt cx="1759788" cy="1759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9839" cy="1759839"/>
            </a:xfrm>
            <a:custGeom>
              <a:avLst/>
              <a:gdLst/>
              <a:ahLst/>
              <a:cxnLst/>
              <a:rect l="l" t="t" r="r" b="b"/>
              <a:pathLst>
                <a:path w="1759839" h="1759839">
                  <a:moveTo>
                    <a:pt x="0" y="0"/>
                  </a:moveTo>
                  <a:lnTo>
                    <a:pt x="1759839" y="0"/>
                  </a:lnTo>
                  <a:lnTo>
                    <a:pt x="1759839" y="1759839"/>
                  </a:lnTo>
                  <a:lnTo>
                    <a:pt x="0" y="175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74973" y="551755"/>
            <a:ext cx="8560451" cy="999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PAPAYA OFF-CAMPUS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926415" y="344900"/>
            <a:ext cx="8250345" cy="461667"/>
            <a:chOff x="0" y="0"/>
            <a:chExt cx="11000461" cy="615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00456" cy="615554"/>
            </a:xfrm>
            <a:custGeom>
              <a:avLst/>
              <a:gdLst/>
              <a:ahLst/>
              <a:cxnLst/>
              <a:rect l="l" t="t" r="r" b="b"/>
              <a:pathLst>
                <a:path w="11000456" h="615554">
                  <a:moveTo>
                    <a:pt x="0" y="0"/>
                  </a:moveTo>
                  <a:lnTo>
                    <a:pt x="11000456" y="0"/>
                  </a:lnTo>
                  <a:lnTo>
                    <a:pt x="11000456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1000461" cy="625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ECIJA UNIVERSITY OF SCIENCE AND TECHNOLOGY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1621"/>
            <a:ext cx="18303850" cy="1988344"/>
            <a:chOff x="0" y="0"/>
            <a:chExt cx="24405133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F08E1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3850" cy="1988344"/>
            <a:chOff x="0" y="0"/>
            <a:chExt cx="24405133" cy="2651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43786" y="3251374"/>
            <a:ext cx="17200428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5"/>
              </a:lnSpc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Part 2: The town writes its own map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17628" y="2506424"/>
            <a:ext cx="4206240" cy="505774"/>
            <a:chOff x="0" y="0"/>
            <a:chExt cx="5608320" cy="6743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08320" cy="674365"/>
            </a:xfrm>
            <a:custGeom>
              <a:avLst/>
              <a:gdLst/>
              <a:ahLst/>
              <a:cxnLst/>
              <a:rect l="l" t="t" r="r" b="b"/>
              <a:pathLst>
                <a:path w="5608320" h="674365">
                  <a:moveTo>
                    <a:pt x="0" y="337183"/>
                  </a:moveTo>
                  <a:cubicBezTo>
                    <a:pt x="0" y="150952"/>
                    <a:pt x="122809" y="0"/>
                    <a:pt x="274320" y="0"/>
                  </a:cubicBezTo>
                  <a:lnTo>
                    <a:pt x="5334000" y="0"/>
                  </a:lnTo>
                  <a:cubicBezTo>
                    <a:pt x="5485511" y="0"/>
                    <a:pt x="5608320" y="150952"/>
                    <a:pt x="5608320" y="337183"/>
                  </a:cubicBezTo>
                  <a:cubicBezTo>
                    <a:pt x="5608320" y="523413"/>
                    <a:pt x="5485511" y="674365"/>
                    <a:pt x="5334000" y="674365"/>
                  </a:cubicBezTo>
                  <a:lnTo>
                    <a:pt x="274320" y="674365"/>
                  </a:lnTo>
                  <a:cubicBezTo>
                    <a:pt x="122809" y="674365"/>
                    <a:pt x="0" y="523413"/>
                    <a:pt x="0" y="337183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5608320" cy="683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Scope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7990" y="317592"/>
            <a:ext cx="1294181" cy="1299372"/>
            <a:chOff x="0" y="0"/>
            <a:chExt cx="1725574" cy="17324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25549" cy="1732534"/>
            </a:xfrm>
            <a:custGeom>
              <a:avLst/>
              <a:gdLst/>
              <a:ahLst/>
              <a:cxnLst/>
              <a:rect l="l" t="t" r="r" b="b"/>
              <a:pathLst>
                <a:path w="1725549" h="1732534">
                  <a:moveTo>
                    <a:pt x="0" y="0"/>
                  </a:moveTo>
                  <a:lnTo>
                    <a:pt x="1725549" y="0"/>
                  </a:lnTo>
                  <a:lnTo>
                    <a:pt x="1725549" y="1732534"/>
                  </a:lnTo>
                  <a:lnTo>
                    <a:pt x="0" y="173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3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97941" y="297113"/>
            <a:ext cx="1319841" cy="1319841"/>
            <a:chOff x="0" y="0"/>
            <a:chExt cx="1759788" cy="1759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9839" cy="1759839"/>
            </a:xfrm>
            <a:custGeom>
              <a:avLst/>
              <a:gdLst/>
              <a:ahLst/>
              <a:cxnLst/>
              <a:rect l="l" t="t" r="r" b="b"/>
              <a:pathLst>
                <a:path w="1759839" h="1759839">
                  <a:moveTo>
                    <a:pt x="0" y="0"/>
                  </a:moveTo>
                  <a:lnTo>
                    <a:pt x="1759839" y="0"/>
                  </a:lnTo>
                  <a:lnTo>
                    <a:pt x="1759839" y="1759839"/>
                  </a:lnTo>
                  <a:lnTo>
                    <a:pt x="0" y="175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74973" y="551755"/>
            <a:ext cx="8560451" cy="999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PAPAYA OFF-CAMPUS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926415" y="344900"/>
            <a:ext cx="8250345" cy="461667"/>
            <a:chOff x="0" y="0"/>
            <a:chExt cx="11000461" cy="615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00456" cy="615554"/>
            </a:xfrm>
            <a:custGeom>
              <a:avLst/>
              <a:gdLst/>
              <a:ahLst/>
              <a:cxnLst/>
              <a:rect l="l" t="t" r="r" b="b"/>
              <a:pathLst>
                <a:path w="11000456" h="615554">
                  <a:moveTo>
                    <a:pt x="0" y="0"/>
                  </a:moveTo>
                  <a:lnTo>
                    <a:pt x="11000456" y="0"/>
                  </a:lnTo>
                  <a:lnTo>
                    <a:pt x="11000456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1000461" cy="625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ECIJA UNIVERSITY OF SCIENCE AND TECHNOLOGY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631E9F3-039C-8175-4090-03A8B32587AD}"/>
              </a:ext>
            </a:extLst>
          </p:cNvPr>
          <p:cNvSpPr txBox="1"/>
          <p:nvPr/>
        </p:nvSpPr>
        <p:spPr>
          <a:xfrm>
            <a:off x="916214" y="3951403"/>
            <a:ext cx="16834824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Arial Nova" panose="020B0504020202020204" pitchFamily="34" charset="0"/>
              </a:rPr>
              <a:t>Anyone can add a place, with a short description the AI can read, like a review of a canteen or a warning about a road.</a:t>
            </a: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Arial Nova" panose="020B0504020202020204" pitchFamily="34" charset="0"/>
              </a:rPr>
              <a:t>Anyone can also report what is happening: floods, checkpoints, hazards, fares. Reports expire, so old news removes itself.</a:t>
            </a: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Arial Nova" panose="020B0504020202020204" pitchFamily="34" charset="0"/>
              </a:rPr>
              <a:t>The community confirms them and leaves comments, and the AI reads all of it: the posts, the confirms, the comments.</a:t>
            </a:r>
          </a:p>
          <a:p>
            <a:pPr>
              <a:spcAft>
                <a:spcPts val="1200"/>
              </a:spcAft>
            </a:pPr>
            <a:endParaRPr lang="en-US" sz="4000" dirty="0">
              <a:latin typeface="Arial Nova" panose="020B05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1621"/>
            <a:ext cx="18303850" cy="1988344"/>
            <a:chOff x="0" y="0"/>
            <a:chExt cx="24405133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F08E1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3850" cy="1988344"/>
            <a:chOff x="0" y="0"/>
            <a:chExt cx="24405133" cy="2651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51692" y="3469490"/>
            <a:ext cx="17200428" cy="661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15"/>
              </a:lnSpc>
            </a:pPr>
            <a:r>
              <a:rPr lang="en-US" sz="4400" dirty="0"/>
              <a:t>Part 3: Traffic detection without traffic data</a:t>
            </a:r>
            <a:endParaRPr lang="en-US" sz="4400" spc="20" dirty="0">
              <a:solidFill>
                <a:srgbClr val="000000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marL="1028700" lvl="1" indent="-571500">
              <a:lnSpc>
                <a:spcPts val="4815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There are no traffic sensors on these roads, and no traffic data to buy. So NavBudol makes its own.</a:t>
            </a:r>
          </a:p>
          <a:p>
            <a:pPr marL="1028700" lvl="1" indent="-571500">
              <a:lnSpc>
                <a:spcPts val="4815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While you navigate, the app times how long you take on each road segment, and compares it with how fast you should be moving.</a:t>
            </a:r>
          </a:p>
          <a:p>
            <a:pPr marL="1028700" lvl="1" indent="-571500">
              <a:lnSpc>
                <a:spcPts val="4815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When riders keep moving slowly on the same stretch, that stretch becomes a live traffic signal.</a:t>
            </a:r>
          </a:p>
          <a:p>
            <a:pPr marL="1028700" lvl="1" indent="-571500">
              <a:lnSpc>
                <a:spcPts val="4815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All of it feeds the co-pilot, so it decides with the full picture: it can warn, suggest another road, or reroute the trip.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51692" y="2578199"/>
            <a:ext cx="4206240" cy="512918"/>
            <a:chOff x="0" y="-9525"/>
            <a:chExt cx="5608320" cy="6838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08320" cy="674365"/>
            </a:xfrm>
            <a:custGeom>
              <a:avLst/>
              <a:gdLst/>
              <a:ahLst/>
              <a:cxnLst/>
              <a:rect l="l" t="t" r="r" b="b"/>
              <a:pathLst>
                <a:path w="5608320" h="674365">
                  <a:moveTo>
                    <a:pt x="0" y="337183"/>
                  </a:moveTo>
                  <a:cubicBezTo>
                    <a:pt x="0" y="150952"/>
                    <a:pt x="122809" y="0"/>
                    <a:pt x="274320" y="0"/>
                  </a:cubicBezTo>
                  <a:lnTo>
                    <a:pt x="5334000" y="0"/>
                  </a:lnTo>
                  <a:cubicBezTo>
                    <a:pt x="5485511" y="0"/>
                    <a:pt x="5608320" y="150952"/>
                    <a:pt x="5608320" y="337183"/>
                  </a:cubicBezTo>
                  <a:cubicBezTo>
                    <a:pt x="5608320" y="523413"/>
                    <a:pt x="5485511" y="674365"/>
                    <a:pt x="5334000" y="674365"/>
                  </a:cubicBezTo>
                  <a:lnTo>
                    <a:pt x="274320" y="674365"/>
                  </a:lnTo>
                  <a:cubicBezTo>
                    <a:pt x="122809" y="674365"/>
                    <a:pt x="0" y="523413"/>
                    <a:pt x="0" y="337183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5608320" cy="683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Scope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7990" y="317592"/>
            <a:ext cx="1294181" cy="1299372"/>
            <a:chOff x="0" y="0"/>
            <a:chExt cx="1725574" cy="17324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25549" cy="1732534"/>
            </a:xfrm>
            <a:custGeom>
              <a:avLst/>
              <a:gdLst/>
              <a:ahLst/>
              <a:cxnLst/>
              <a:rect l="l" t="t" r="r" b="b"/>
              <a:pathLst>
                <a:path w="1725549" h="1732534">
                  <a:moveTo>
                    <a:pt x="0" y="0"/>
                  </a:moveTo>
                  <a:lnTo>
                    <a:pt x="1725549" y="0"/>
                  </a:lnTo>
                  <a:lnTo>
                    <a:pt x="1725549" y="1732534"/>
                  </a:lnTo>
                  <a:lnTo>
                    <a:pt x="0" y="173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3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97941" y="297113"/>
            <a:ext cx="1319841" cy="1319841"/>
            <a:chOff x="0" y="0"/>
            <a:chExt cx="1759788" cy="1759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9839" cy="1759839"/>
            </a:xfrm>
            <a:custGeom>
              <a:avLst/>
              <a:gdLst/>
              <a:ahLst/>
              <a:cxnLst/>
              <a:rect l="l" t="t" r="r" b="b"/>
              <a:pathLst>
                <a:path w="1759839" h="1759839">
                  <a:moveTo>
                    <a:pt x="0" y="0"/>
                  </a:moveTo>
                  <a:lnTo>
                    <a:pt x="1759839" y="0"/>
                  </a:lnTo>
                  <a:lnTo>
                    <a:pt x="1759839" y="1759839"/>
                  </a:lnTo>
                  <a:lnTo>
                    <a:pt x="0" y="175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74973" y="551755"/>
            <a:ext cx="8560451" cy="999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PAPAYA OFF-CAMPUS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926415" y="344900"/>
            <a:ext cx="8250345" cy="461667"/>
            <a:chOff x="0" y="0"/>
            <a:chExt cx="11000461" cy="615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00456" cy="615554"/>
            </a:xfrm>
            <a:custGeom>
              <a:avLst/>
              <a:gdLst/>
              <a:ahLst/>
              <a:cxnLst/>
              <a:rect l="l" t="t" r="r" b="b"/>
              <a:pathLst>
                <a:path w="11000456" h="615554">
                  <a:moveTo>
                    <a:pt x="0" y="0"/>
                  </a:moveTo>
                  <a:lnTo>
                    <a:pt x="11000456" y="0"/>
                  </a:lnTo>
                  <a:lnTo>
                    <a:pt x="11000456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1000461" cy="625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ECIJA UNIVERSITY OF SCIENCE AND TECHNOLOGY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C624E-D2DD-C464-8166-2ACA6EEA9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39360A-C73D-4B53-86DF-4618CE21CFC7}"/>
              </a:ext>
            </a:extLst>
          </p:cNvPr>
          <p:cNvGrpSpPr/>
          <p:nvPr/>
        </p:nvGrpSpPr>
        <p:grpSpPr>
          <a:xfrm>
            <a:off x="0" y="241621"/>
            <a:ext cx="18303850" cy="1988344"/>
            <a:chOff x="0" y="0"/>
            <a:chExt cx="24405133" cy="26511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481984C-2C6C-1192-0749-85B31E945406}"/>
                </a:ext>
              </a:extLst>
            </p:cNvPr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F08E1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4B9A14A-20EF-C5F4-7285-6036099A599E}"/>
              </a:ext>
            </a:extLst>
          </p:cNvPr>
          <p:cNvGrpSpPr/>
          <p:nvPr/>
        </p:nvGrpSpPr>
        <p:grpSpPr>
          <a:xfrm>
            <a:off x="0" y="0"/>
            <a:ext cx="18303850" cy="1988344"/>
            <a:chOff x="0" y="0"/>
            <a:chExt cx="24405133" cy="265112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E97FE61-425F-FBC9-9FFA-E5FEFB4B6E11}"/>
                </a:ext>
              </a:extLst>
            </p:cNvPr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12029932-1A06-5B31-77C3-9D6D456C1F73}"/>
              </a:ext>
            </a:extLst>
          </p:cNvPr>
          <p:cNvSpPr txBox="1"/>
          <p:nvPr/>
        </p:nvSpPr>
        <p:spPr>
          <a:xfrm>
            <a:off x="551692" y="3469490"/>
            <a:ext cx="17200428" cy="483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400" dirty="0"/>
              <a:t>Part 4: Places roads cannot reach</a:t>
            </a:r>
          </a:p>
          <a:p>
            <a:pPr marL="1028700" lvl="1" indent="-571500">
              <a:lnSpc>
                <a:spcPts val="4815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The route ends at the gate. The canteen is still behind it.</a:t>
            </a:r>
          </a:p>
          <a:p>
            <a:pPr marL="1028700" lvl="1" indent="-571500">
              <a:lnSpc>
                <a:spcPts val="4815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So the route grows a final leg: a straight walk to the pin, a meter counting down, an arrow pointing the way.</a:t>
            </a:r>
          </a:p>
          <a:p>
            <a:pPr marL="1028700" lvl="1" indent="-571500">
              <a:lnSpc>
                <a:spcPts val="4815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A hint does the guiding: past the flag pole, </a:t>
            </a:r>
            <a:r>
              <a:rPr lang="en-US" sz="4013" spc="20" dirty="0" err="1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yung</a:t>
            </a: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 blue </a:t>
            </a:r>
            <a:r>
              <a:rPr lang="en-US" sz="4013" spc="20" dirty="0" err="1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na</a:t>
            </a: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 building. Written by whoever added the place.</a:t>
            </a:r>
          </a:p>
          <a:p>
            <a:pPr marL="1028700" lvl="1" indent="-571500">
              <a:lnSpc>
                <a:spcPts val="4815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It works for any place: school, subdivision, or massive house.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B78A1B7-3D4B-0C54-815C-6B55BFCC4B03}"/>
              </a:ext>
            </a:extLst>
          </p:cNvPr>
          <p:cNvGrpSpPr/>
          <p:nvPr/>
        </p:nvGrpSpPr>
        <p:grpSpPr>
          <a:xfrm>
            <a:off x="551692" y="2578199"/>
            <a:ext cx="4206240" cy="512918"/>
            <a:chOff x="0" y="-9525"/>
            <a:chExt cx="5608320" cy="68389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254015C-F392-0652-777D-C59B09C67A76}"/>
                </a:ext>
              </a:extLst>
            </p:cNvPr>
            <p:cNvSpPr/>
            <p:nvPr/>
          </p:nvSpPr>
          <p:spPr>
            <a:xfrm>
              <a:off x="0" y="0"/>
              <a:ext cx="5608320" cy="674365"/>
            </a:xfrm>
            <a:custGeom>
              <a:avLst/>
              <a:gdLst/>
              <a:ahLst/>
              <a:cxnLst/>
              <a:rect l="l" t="t" r="r" b="b"/>
              <a:pathLst>
                <a:path w="5608320" h="674365">
                  <a:moveTo>
                    <a:pt x="0" y="337183"/>
                  </a:moveTo>
                  <a:cubicBezTo>
                    <a:pt x="0" y="150952"/>
                    <a:pt x="122809" y="0"/>
                    <a:pt x="274320" y="0"/>
                  </a:cubicBezTo>
                  <a:lnTo>
                    <a:pt x="5334000" y="0"/>
                  </a:lnTo>
                  <a:cubicBezTo>
                    <a:pt x="5485511" y="0"/>
                    <a:pt x="5608320" y="150952"/>
                    <a:pt x="5608320" y="337183"/>
                  </a:cubicBezTo>
                  <a:cubicBezTo>
                    <a:pt x="5608320" y="523413"/>
                    <a:pt x="5485511" y="674365"/>
                    <a:pt x="5334000" y="674365"/>
                  </a:cubicBezTo>
                  <a:lnTo>
                    <a:pt x="274320" y="674365"/>
                  </a:lnTo>
                  <a:cubicBezTo>
                    <a:pt x="122809" y="674365"/>
                    <a:pt x="0" y="523413"/>
                    <a:pt x="0" y="337183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D149CB5-02BF-03C4-D55A-E0A524BBA5FD}"/>
                </a:ext>
              </a:extLst>
            </p:cNvPr>
            <p:cNvSpPr txBox="1"/>
            <p:nvPr/>
          </p:nvSpPr>
          <p:spPr>
            <a:xfrm>
              <a:off x="0" y="-9525"/>
              <a:ext cx="5608320" cy="683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Scope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6F64D72-7467-A4F7-EE66-417C7D7714F5}"/>
              </a:ext>
            </a:extLst>
          </p:cNvPr>
          <p:cNvGrpSpPr/>
          <p:nvPr/>
        </p:nvGrpSpPr>
        <p:grpSpPr>
          <a:xfrm>
            <a:off x="1137990" y="317592"/>
            <a:ext cx="1294181" cy="1299372"/>
            <a:chOff x="0" y="0"/>
            <a:chExt cx="1725574" cy="173249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9BA2E25-4827-825A-5B98-C42AE4552FCE}"/>
                </a:ext>
              </a:extLst>
            </p:cNvPr>
            <p:cNvSpPr/>
            <p:nvPr/>
          </p:nvSpPr>
          <p:spPr>
            <a:xfrm>
              <a:off x="0" y="0"/>
              <a:ext cx="1725549" cy="1732534"/>
            </a:xfrm>
            <a:custGeom>
              <a:avLst/>
              <a:gdLst/>
              <a:ahLst/>
              <a:cxnLst/>
              <a:rect l="l" t="t" r="r" b="b"/>
              <a:pathLst>
                <a:path w="1725549" h="1732534">
                  <a:moveTo>
                    <a:pt x="0" y="0"/>
                  </a:moveTo>
                  <a:lnTo>
                    <a:pt x="1725549" y="0"/>
                  </a:lnTo>
                  <a:lnTo>
                    <a:pt x="1725549" y="1732534"/>
                  </a:lnTo>
                  <a:lnTo>
                    <a:pt x="0" y="173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3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32EC6A2-CB52-369E-050C-C7468FDB8C96}"/>
              </a:ext>
            </a:extLst>
          </p:cNvPr>
          <p:cNvGrpSpPr/>
          <p:nvPr/>
        </p:nvGrpSpPr>
        <p:grpSpPr>
          <a:xfrm>
            <a:off x="2497941" y="297113"/>
            <a:ext cx="1319841" cy="1319841"/>
            <a:chOff x="0" y="0"/>
            <a:chExt cx="1759788" cy="175978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0FF0F6A-C99E-8BD1-7ABE-D1C946E357AE}"/>
                </a:ext>
              </a:extLst>
            </p:cNvPr>
            <p:cNvSpPr/>
            <p:nvPr/>
          </p:nvSpPr>
          <p:spPr>
            <a:xfrm>
              <a:off x="0" y="0"/>
              <a:ext cx="1759839" cy="1759839"/>
            </a:xfrm>
            <a:custGeom>
              <a:avLst/>
              <a:gdLst/>
              <a:ahLst/>
              <a:cxnLst/>
              <a:rect l="l" t="t" r="r" b="b"/>
              <a:pathLst>
                <a:path w="1759839" h="1759839">
                  <a:moveTo>
                    <a:pt x="0" y="0"/>
                  </a:moveTo>
                  <a:lnTo>
                    <a:pt x="1759839" y="0"/>
                  </a:lnTo>
                  <a:lnTo>
                    <a:pt x="1759839" y="1759839"/>
                  </a:lnTo>
                  <a:lnTo>
                    <a:pt x="0" y="175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2C229F4E-84DB-F940-7E92-5BFE66BA3910}"/>
              </a:ext>
            </a:extLst>
          </p:cNvPr>
          <p:cNvSpPr txBox="1"/>
          <p:nvPr/>
        </p:nvSpPr>
        <p:spPr>
          <a:xfrm>
            <a:off x="3974973" y="551755"/>
            <a:ext cx="8560451" cy="999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PAPAYA OFF-CAMPUS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6371FD1-96B7-98D4-B678-CEF440DDFECB}"/>
              </a:ext>
            </a:extLst>
          </p:cNvPr>
          <p:cNvGrpSpPr/>
          <p:nvPr/>
        </p:nvGrpSpPr>
        <p:grpSpPr>
          <a:xfrm>
            <a:off x="3926415" y="344900"/>
            <a:ext cx="8250345" cy="461667"/>
            <a:chOff x="0" y="0"/>
            <a:chExt cx="11000461" cy="61555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2845175A-247C-4ED0-3D61-2A6990A0D85F}"/>
                </a:ext>
              </a:extLst>
            </p:cNvPr>
            <p:cNvSpPr/>
            <p:nvPr/>
          </p:nvSpPr>
          <p:spPr>
            <a:xfrm>
              <a:off x="0" y="0"/>
              <a:ext cx="11000456" cy="615554"/>
            </a:xfrm>
            <a:custGeom>
              <a:avLst/>
              <a:gdLst/>
              <a:ahLst/>
              <a:cxnLst/>
              <a:rect l="l" t="t" r="r" b="b"/>
              <a:pathLst>
                <a:path w="11000456" h="615554">
                  <a:moveTo>
                    <a:pt x="0" y="0"/>
                  </a:moveTo>
                  <a:lnTo>
                    <a:pt x="11000456" y="0"/>
                  </a:lnTo>
                  <a:lnTo>
                    <a:pt x="11000456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7EE2FD7-4870-8E2F-185B-996F119B6CA5}"/>
                </a:ext>
              </a:extLst>
            </p:cNvPr>
            <p:cNvSpPr txBox="1"/>
            <p:nvPr/>
          </p:nvSpPr>
          <p:spPr>
            <a:xfrm>
              <a:off x="0" y="-9525"/>
              <a:ext cx="11000461" cy="625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ECIJA UNIVERSITY OF SCIENCE AND TECHNOLOGY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352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32D9B-74BB-0C76-50D5-065AB9CCE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DE31625-5441-A7CA-041C-B8A57B44AD1F}"/>
              </a:ext>
            </a:extLst>
          </p:cNvPr>
          <p:cNvGrpSpPr/>
          <p:nvPr/>
        </p:nvGrpSpPr>
        <p:grpSpPr>
          <a:xfrm>
            <a:off x="0" y="241621"/>
            <a:ext cx="18303850" cy="1988344"/>
            <a:chOff x="0" y="0"/>
            <a:chExt cx="24405133" cy="26511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05557AF-4AB3-A89E-FC42-7B7F4D2B2182}"/>
                </a:ext>
              </a:extLst>
            </p:cNvPr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F08E1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02CD6FD-C832-DF9C-B49E-58EFAE6559F2}"/>
              </a:ext>
            </a:extLst>
          </p:cNvPr>
          <p:cNvGrpSpPr/>
          <p:nvPr/>
        </p:nvGrpSpPr>
        <p:grpSpPr>
          <a:xfrm>
            <a:off x="0" y="0"/>
            <a:ext cx="18303850" cy="1988344"/>
            <a:chOff x="0" y="0"/>
            <a:chExt cx="24405133" cy="265112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25EAFDB-C606-C9A4-ABE9-FE29A2703141}"/>
                </a:ext>
              </a:extLst>
            </p:cNvPr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8E42F269-36EA-0C31-1B29-2315D2401EB1}"/>
              </a:ext>
            </a:extLst>
          </p:cNvPr>
          <p:cNvSpPr txBox="1"/>
          <p:nvPr/>
        </p:nvSpPr>
        <p:spPr>
          <a:xfrm>
            <a:off x="551692" y="3543300"/>
            <a:ext cx="17507708" cy="329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dirty="0"/>
              <a:t>Part 5: Accounts and trust</a:t>
            </a:r>
          </a:p>
          <a:p>
            <a:pPr marL="1028700" lvl="1" indent="-571500">
              <a:lnSpc>
                <a:spcPts val="4815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Every member has an account: your places, reports, and travel history are saved and synced.</a:t>
            </a:r>
          </a:p>
          <a:p>
            <a:pPr marL="1028700" lvl="1" indent="-571500">
              <a:lnSpc>
                <a:spcPts val="4815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A trust system builds a record for good contributions, and abusive accounts get flagged.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1070A748-6862-2506-7466-BEF3AED822FE}"/>
              </a:ext>
            </a:extLst>
          </p:cNvPr>
          <p:cNvGrpSpPr/>
          <p:nvPr/>
        </p:nvGrpSpPr>
        <p:grpSpPr>
          <a:xfrm>
            <a:off x="551692" y="2578199"/>
            <a:ext cx="4206240" cy="512918"/>
            <a:chOff x="0" y="-9525"/>
            <a:chExt cx="5608320" cy="68389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08F763E-B0F3-53AC-15C4-574C122EA26A}"/>
                </a:ext>
              </a:extLst>
            </p:cNvPr>
            <p:cNvSpPr/>
            <p:nvPr/>
          </p:nvSpPr>
          <p:spPr>
            <a:xfrm>
              <a:off x="0" y="0"/>
              <a:ext cx="5608320" cy="674365"/>
            </a:xfrm>
            <a:custGeom>
              <a:avLst/>
              <a:gdLst/>
              <a:ahLst/>
              <a:cxnLst/>
              <a:rect l="l" t="t" r="r" b="b"/>
              <a:pathLst>
                <a:path w="5608320" h="674365">
                  <a:moveTo>
                    <a:pt x="0" y="337183"/>
                  </a:moveTo>
                  <a:cubicBezTo>
                    <a:pt x="0" y="150952"/>
                    <a:pt x="122809" y="0"/>
                    <a:pt x="274320" y="0"/>
                  </a:cubicBezTo>
                  <a:lnTo>
                    <a:pt x="5334000" y="0"/>
                  </a:lnTo>
                  <a:cubicBezTo>
                    <a:pt x="5485511" y="0"/>
                    <a:pt x="5608320" y="150952"/>
                    <a:pt x="5608320" y="337183"/>
                  </a:cubicBezTo>
                  <a:cubicBezTo>
                    <a:pt x="5608320" y="523413"/>
                    <a:pt x="5485511" y="674365"/>
                    <a:pt x="5334000" y="674365"/>
                  </a:cubicBezTo>
                  <a:lnTo>
                    <a:pt x="274320" y="674365"/>
                  </a:lnTo>
                  <a:cubicBezTo>
                    <a:pt x="122809" y="674365"/>
                    <a:pt x="0" y="523413"/>
                    <a:pt x="0" y="337183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3D208C-2970-11EC-B695-48B7995E0777}"/>
                </a:ext>
              </a:extLst>
            </p:cNvPr>
            <p:cNvSpPr txBox="1"/>
            <p:nvPr/>
          </p:nvSpPr>
          <p:spPr>
            <a:xfrm>
              <a:off x="0" y="-9525"/>
              <a:ext cx="5608320" cy="683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Scope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1E722F7-036F-9FDB-AADC-14A14B5D593C}"/>
              </a:ext>
            </a:extLst>
          </p:cNvPr>
          <p:cNvGrpSpPr/>
          <p:nvPr/>
        </p:nvGrpSpPr>
        <p:grpSpPr>
          <a:xfrm>
            <a:off x="1137990" y="317592"/>
            <a:ext cx="1294181" cy="1299372"/>
            <a:chOff x="0" y="0"/>
            <a:chExt cx="1725574" cy="173249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BA00FDD-6BAE-7AF9-7303-54F843255AED}"/>
                </a:ext>
              </a:extLst>
            </p:cNvPr>
            <p:cNvSpPr/>
            <p:nvPr/>
          </p:nvSpPr>
          <p:spPr>
            <a:xfrm>
              <a:off x="0" y="0"/>
              <a:ext cx="1725549" cy="1732534"/>
            </a:xfrm>
            <a:custGeom>
              <a:avLst/>
              <a:gdLst/>
              <a:ahLst/>
              <a:cxnLst/>
              <a:rect l="l" t="t" r="r" b="b"/>
              <a:pathLst>
                <a:path w="1725549" h="1732534">
                  <a:moveTo>
                    <a:pt x="0" y="0"/>
                  </a:moveTo>
                  <a:lnTo>
                    <a:pt x="1725549" y="0"/>
                  </a:lnTo>
                  <a:lnTo>
                    <a:pt x="1725549" y="1732534"/>
                  </a:lnTo>
                  <a:lnTo>
                    <a:pt x="0" y="173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3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F58AE33-879A-FCB4-FA35-F6FB08E2EE0E}"/>
              </a:ext>
            </a:extLst>
          </p:cNvPr>
          <p:cNvGrpSpPr/>
          <p:nvPr/>
        </p:nvGrpSpPr>
        <p:grpSpPr>
          <a:xfrm>
            <a:off x="2497941" y="297113"/>
            <a:ext cx="1319841" cy="1319841"/>
            <a:chOff x="0" y="0"/>
            <a:chExt cx="1759788" cy="175978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AFD43CA-8AA7-A854-C584-D4DCE39F997B}"/>
                </a:ext>
              </a:extLst>
            </p:cNvPr>
            <p:cNvSpPr/>
            <p:nvPr/>
          </p:nvSpPr>
          <p:spPr>
            <a:xfrm>
              <a:off x="0" y="0"/>
              <a:ext cx="1759839" cy="1759839"/>
            </a:xfrm>
            <a:custGeom>
              <a:avLst/>
              <a:gdLst/>
              <a:ahLst/>
              <a:cxnLst/>
              <a:rect l="l" t="t" r="r" b="b"/>
              <a:pathLst>
                <a:path w="1759839" h="1759839">
                  <a:moveTo>
                    <a:pt x="0" y="0"/>
                  </a:moveTo>
                  <a:lnTo>
                    <a:pt x="1759839" y="0"/>
                  </a:lnTo>
                  <a:lnTo>
                    <a:pt x="1759839" y="1759839"/>
                  </a:lnTo>
                  <a:lnTo>
                    <a:pt x="0" y="175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3B449C69-08C2-2BE2-D974-37CE3B78C88E}"/>
              </a:ext>
            </a:extLst>
          </p:cNvPr>
          <p:cNvSpPr txBox="1"/>
          <p:nvPr/>
        </p:nvSpPr>
        <p:spPr>
          <a:xfrm>
            <a:off x="3974973" y="551755"/>
            <a:ext cx="8560451" cy="999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PAPAYA OFF-CAMPUS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6CD64A6-9ACF-8279-587B-3E47C74C9178}"/>
              </a:ext>
            </a:extLst>
          </p:cNvPr>
          <p:cNvGrpSpPr/>
          <p:nvPr/>
        </p:nvGrpSpPr>
        <p:grpSpPr>
          <a:xfrm>
            <a:off x="3926415" y="344900"/>
            <a:ext cx="8250345" cy="461667"/>
            <a:chOff x="0" y="0"/>
            <a:chExt cx="11000461" cy="61555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C33C5EF-1635-E0B8-7BFC-8EBFC0B2F31E}"/>
                </a:ext>
              </a:extLst>
            </p:cNvPr>
            <p:cNvSpPr/>
            <p:nvPr/>
          </p:nvSpPr>
          <p:spPr>
            <a:xfrm>
              <a:off x="0" y="0"/>
              <a:ext cx="11000456" cy="615554"/>
            </a:xfrm>
            <a:custGeom>
              <a:avLst/>
              <a:gdLst/>
              <a:ahLst/>
              <a:cxnLst/>
              <a:rect l="l" t="t" r="r" b="b"/>
              <a:pathLst>
                <a:path w="11000456" h="615554">
                  <a:moveTo>
                    <a:pt x="0" y="0"/>
                  </a:moveTo>
                  <a:lnTo>
                    <a:pt x="11000456" y="0"/>
                  </a:lnTo>
                  <a:lnTo>
                    <a:pt x="11000456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ADB3A56-10CA-A2D8-65C2-9B1028D8A0CD}"/>
                </a:ext>
              </a:extLst>
            </p:cNvPr>
            <p:cNvSpPr txBox="1"/>
            <p:nvPr/>
          </p:nvSpPr>
          <p:spPr>
            <a:xfrm>
              <a:off x="0" y="-9525"/>
              <a:ext cx="11000461" cy="625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ECIJA UNIVERSITY OF SCIENCE AND TECHNOLOGY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0049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1621"/>
            <a:ext cx="18303850" cy="1988344"/>
            <a:chOff x="0" y="0"/>
            <a:chExt cx="24405133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F08E1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3850" cy="1988344"/>
            <a:chOff x="0" y="0"/>
            <a:chExt cx="24405133" cy="2651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51711" y="3238500"/>
            <a:ext cx="17200428" cy="584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8700" lvl="1" indent="-571500">
              <a:lnSpc>
                <a:spcPts val="4815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Community-dependent. The AI is only as good as what the community shares. A quiet town gets generic answers, and a wrong report misleads until it expires or is disputed.</a:t>
            </a:r>
          </a:p>
          <a:p>
            <a:pPr marL="1028700" lvl="1" indent="-571500">
              <a:lnSpc>
                <a:spcPts val="4815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13" spc="20" dirty="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Internet-dependent. Every feature, from the co-pilot to traffic detection, runs on the cloud. No Wi-Fi or data, no app.</a:t>
            </a:r>
          </a:p>
          <a:p>
            <a:pPr lvl="1">
              <a:lnSpc>
                <a:spcPts val="4815"/>
              </a:lnSpc>
              <a:spcAft>
                <a:spcPts val="1800"/>
              </a:spcAft>
            </a:pPr>
            <a:endParaRPr lang="en-US" sz="4013" spc="20" dirty="0">
              <a:solidFill>
                <a:srgbClr val="000000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lvl="1">
              <a:lnSpc>
                <a:spcPts val="4815"/>
              </a:lnSpc>
              <a:spcAft>
                <a:spcPts val="1800"/>
              </a:spcAft>
            </a:pPr>
            <a:endParaRPr lang="en-US" sz="4013" spc="20" dirty="0">
              <a:solidFill>
                <a:srgbClr val="000000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lvl="1">
              <a:lnSpc>
                <a:spcPts val="4815"/>
              </a:lnSpc>
            </a:pPr>
            <a:endParaRPr lang="en-US" sz="4013" spc="20" dirty="0">
              <a:solidFill>
                <a:srgbClr val="000000"/>
              </a:solidFill>
              <a:latin typeface="Arial Nova"/>
              <a:ea typeface="Arial Nova"/>
              <a:cs typeface="Arial Nova"/>
              <a:sym typeface="Arial Nova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551711" y="2605701"/>
            <a:ext cx="4206240" cy="505774"/>
            <a:chOff x="0" y="0"/>
            <a:chExt cx="5608320" cy="6743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08320" cy="674365"/>
            </a:xfrm>
            <a:custGeom>
              <a:avLst/>
              <a:gdLst/>
              <a:ahLst/>
              <a:cxnLst/>
              <a:rect l="l" t="t" r="r" b="b"/>
              <a:pathLst>
                <a:path w="5608320" h="674365">
                  <a:moveTo>
                    <a:pt x="0" y="337183"/>
                  </a:moveTo>
                  <a:cubicBezTo>
                    <a:pt x="0" y="150952"/>
                    <a:pt x="122809" y="0"/>
                    <a:pt x="274320" y="0"/>
                  </a:cubicBezTo>
                  <a:lnTo>
                    <a:pt x="5334000" y="0"/>
                  </a:lnTo>
                  <a:cubicBezTo>
                    <a:pt x="5485511" y="0"/>
                    <a:pt x="5608320" y="150952"/>
                    <a:pt x="5608320" y="337183"/>
                  </a:cubicBezTo>
                  <a:cubicBezTo>
                    <a:pt x="5608320" y="523413"/>
                    <a:pt x="5485511" y="674365"/>
                    <a:pt x="5334000" y="674365"/>
                  </a:cubicBezTo>
                  <a:lnTo>
                    <a:pt x="274320" y="674365"/>
                  </a:lnTo>
                  <a:cubicBezTo>
                    <a:pt x="122809" y="674365"/>
                    <a:pt x="0" y="523413"/>
                    <a:pt x="0" y="337183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5608320" cy="683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Limitations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7990" y="317592"/>
            <a:ext cx="1294181" cy="1299372"/>
            <a:chOff x="0" y="0"/>
            <a:chExt cx="1725574" cy="17324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25549" cy="1732534"/>
            </a:xfrm>
            <a:custGeom>
              <a:avLst/>
              <a:gdLst/>
              <a:ahLst/>
              <a:cxnLst/>
              <a:rect l="l" t="t" r="r" b="b"/>
              <a:pathLst>
                <a:path w="1725549" h="1732534">
                  <a:moveTo>
                    <a:pt x="0" y="0"/>
                  </a:moveTo>
                  <a:lnTo>
                    <a:pt x="1725549" y="0"/>
                  </a:lnTo>
                  <a:lnTo>
                    <a:pt x="1725549" y="1732534"/>
                  </a:lnTo>
                  <a:lnTo>
                    <a:pt x="0" y="173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38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97941" y="297113"/>
            <a:ext cx="1319841" cy="1319841"/>
            <a:chOff x="0" y="0"/>
            <a:chExt cx="1759788" cy="1759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9839" cy="1759839"/>
            </a:xfrm>
            <a:custGeom>
              <a:avLst/>
              <a:gdLst/>
              <a:ahLst/>
              <a:cxnLst/>
              <a:rect l="l" t="t" r="r" b="b"/>
              <a:pathLst>
                <a:path w="1759839" h="1759839">
                  <a:moveTo>
                    <a:pt x="0" y="0"/>
                  </a:moveTo>
                  <a:lnTo>
                    <a:pt x="1759839" y="0"/>
                  </a:lnTo>
                  <a:lnTo>
                    <a:pt x="1759839" y="1759839"/>
                  </a:lnTo>
                  <a:lnTo>
                    <a:pt x="0" y="175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74973" y="551755"/>
            <a:ext cx="8560451" cy="999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PAPAYA OFF-CAMPUS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926415" y="344900"/>
            <a:ext cx="8250345" cy="461667"/>
            <a:chOff x="0" y="0"/>
            <a:chExt cx="11000461" cy="615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00456" cy="615554"/>
            </a:xfrm>
            <a:custGeom>
              <a:avLst/>
              <a:gdLst/>
              <a:ahLst/>
              <a:cxnLst/>
              <a:rect l="l" t="t" r="r" b="b"/>
              <a:pathLst>
                <a:path w="11000456" h="615554">
                  <a:moveTo>
                    <a:pt x="0" y="0"/>
                  </a:moveTo>
                  <a:lnTo>
                    <a:pt x="11000456" y="0"/>
                  </a:lnTo>
                  <a:lnTo>
                    <a:pt x="11000456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1000461" cy="625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ECIJA UNIVERSITY OF SCIENCE AND TECHNOLOGY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1621"/>
            <a:ext cx="18303850" cy="1988344"/>
            <a:chOff x="0" y="0"/>
            <a:chExt cx="24405133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F08E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3850" cy="1988344"/>
            <a:chOff x="0" y="0"/>
            <a:chExt cx="24405133" cy="2651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5082" cy="2651125"/>
            </a:xfrm>
            <a:custGeom>
              <a:avLst/>
              <a:gdLst/>
              <a:ahLst/>
              <a:cxnLst/>
              <a:rect l="l" t="t" r="r" b="b"/>
              <a:pathLst>
                <a:path w="24405082" h="2651125">
                  <a:moveTo>
                    <a:pt x="0" y="0"/>
                  </a:moveTo>
                  <a:lnTo>
                    <a:pt x="24405082" y="0"/>
                  </a:lnTo>
                  <a:lnTo>
                    <a:pt x="24405082" y="2651125"/>
                  </a:lnTo>
                  <a:lnTo>
                    <a:pt x="0" y="2651125"/>
                  </a:lnTo>
                </a:path>
              </a:pathLst>
            </a:custGeom>
            <a:solidFill>
              <a:srgbClr val="0020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AutoShape 6"/>
          <p:cNvSpPr/>
          <p:nvPr/>
        </p:nvSpPr>
        <p:spPr>
          <a:xfrm rot="9840">
            <a:off x="1652026" y="3376917"/>
            <a:ext cx="14983949" cy="0"/>
          </a:xfrm>
          <a:prstGeom prst="line">
            <a:avLst/>
          </a:prstGeom>
          <a:ln w="19050" cap="rnd">
            <a:solidFill>
              <a:srgbClr val="7F7F7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137990" y="317592"/>
            <a:ext cx="1294181" cy="1299372"/>
            <a:chOff x="0" y="0"/>
            <a:chExt cx="1725574" cy="17324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25549" cy="1732534"/>
            </a:xfrm>
            <a:custGeom>
              <a:avLst/>
              <a:gdLst/>
              <a:ahLst/>
              <a:cxnLst/>
              <a:rect l="l" t="t" r="r" b="b"/>
              <a:pathLst>
                <a:path w="1725549" h="1732534">
                  <a:moveTo>
                    <a:pt x="0" y="0"/>
                  </a:moveTo>
                  <a:lnTo>
                    <a:pt x="1725549" y="0"/>
                  </a:lnTo>
                  <a:lnTo>
                    <a:pt x="1725549" y="1732534"/>
                  </a:lnTo>
                  <a:lnTo>
                    <a:pt x="0" y="173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38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2497941" y="297113"/>
            <a:ext cx="1319841" cy="1319841"/>
            <a:chOff x="0" y="0"/>
            <a:chExt cx="1759788" cy="17597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9839" cy="1759839"/>
            </a:xfrm>
            <a:custGeom>
              <a:avLst/>
              <a:gdLst/>
              <a:ahLst/>
              <a:cxnLst/>
              <a:rect l="l" t="t" r="r" b="b"/>
              <a:pathLst>
                <a:path w="1759839" h="1759839">
                  <a:moveTo>
                    <a:pt x="0" y="0"/>
                  </a:moveTo>
                  <a:lnTo>
                    <a:pt x="1759839" y="0"/>
                  </a:lnTo>
                  <a:lnTo>
                    <a:pt x="1759839" y="1759839"/>
                  </a:lnTo>
                  <a:lnTo>
                    <a:pt x="0" y="175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974973" y="551755"/>
            <a:ext cx="8560451" cy="999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PAPAYA OFF-CAMPUS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926415" y="344900"/>
            <a:ext cx="8250345" cy="461667"/>
            <a:chOff x="0" y="0"/>
            <a:chExt cx="11000461" cy="615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000456" cy="615554"/>
            </a:xfrm>
            <a:custGeom>
              <a:avLst/>
              <a:gdLst/>
              <a:ahLst/>
              <a:cxnLst/>
              <a:rect l="l" t="t" r="r" b="b"/>
              <a:pathLst>
                <a:path w="11000456" h="615554">
                  <a:moveTo>
                    <a:pt x="0" y="0"/>
                  </a:moveTo>
                  <a:lnTo>
                    <a:pt x="11000456" y="0"/>
                  </a:lnTo>
                  <a:lnTo>
                    <a:pt x="11000456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1000461" cy="625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 ECIJA UNIVERSITY OF SCIENCE AND TECHNOLOGY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33080" y="5283508"/>
            <a:ext cx="17381820" cy="132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800</Words>
  <Application>Microsoft Office PowerPoint</Application>
  <PresentationFormat>Custom</PresentationFormat>
  <Paragraphs>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 Bold</vt:lpstr>
      <vt:lpstr>Arial Nova</vt:lpstr>
      <vt:lpstr>Arial</vt:lpstr>
      <vt:lpstr>Arial Nova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CapstoneTitles</dc:title>
  <cp:lastModifiedBy>EDRICK MARTIN</cp:lastModifiedBy>
  <cp:revision>9</cp:revision>
  <dcterms:created xsi:type="dcterms:W3CDTF">2006-08-16T00:00:00Z</dcterms:created>
  <dcterms:modified xsi:type="dcterms:W3CDTF">2026-09-28T18:06:45Z</dcterms:modified>
  <dc:identifier>DAG_mLHviWc</dc:identifier>
</cp:coreProperties>
</file>